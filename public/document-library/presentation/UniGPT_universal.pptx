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 — Micro-story. Slow + quiet. Deliver the Tuesday story, 2-sec pauses, look at judges. Then: 'My name is Mohammad Shariya, third-year CSE at NUB — and this is UniGPT.'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— Let it breathe 2s. Slow, drop pitch on the name. One platform that unifies everything; AI that answers from the university's own approved documents and shows where every answer came from.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 — student's life across 6 disconnected tools. Notice the tangle. Bridge to faculty: 'turn the camera around.'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 — faculty repetition + admin blindness. Bridge: 'So I built one [single brain].'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SOLUTION — the chaos becomes one hub, three role doors. Bridge: 'the structure isn't the innovation — THIS is.'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CORE INNOVATION — slowest delivery. RAG = no hallucination, cites doc+page+confidence. Bridge: that engine powers a feature for everyone.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STUDENTS — copilot. Cited answers in seconds, modes, live grades, no office queues. Bridge to faculty.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FACULTY — drafts quizzes/assignments, suggests feedback, one-tap attendance, at-risk alerts DURING the semester. Bridge to admin.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ADMIN — governance: doc is quotable only after approval; reject removes it instantly. Usage monitor, analytics, system health. Nothing is a black box.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PROCTORED INTEGRITY — fullscreen enforced, auto-disqualify, tamper-proof per-student timer, server-authoritative grading (client answers never trusted). This is a security-engineering flex; deliver it with confidence. Bridge: and students and faculty stay connected in real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REAL-TIME, HONESTLY — live chat gated to shared sections; DB-first then broadcast with polling fallback; honest trade-off — hosted broadcaster now, self-host Reverb on a VPS to scale, same client. Engineering judges reward this honesty. Bridge: so how does the whole thing run?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ARCHITECTURE — for technical judges. Laravel 11 + Vue 3 + MySQL 8 (data AND embeddings, native cosine) + pluggable AI. Key: vector search inside the DB, zero external dependencies.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LOCK-IN — pluggable providers behind one interface. Mock by default (zero keys, full demo), OpenAI drops in for production, Gemini/local LLMs slot into the same contract. Bridge: why not just use ChatGPT?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DIFFERENTIATION — count three on fingers: source, citations, permissions. Permission-aware is the knockout. Bridge to impact.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METRICS — 3 dashboards, 40+ permissions, 100% core workflows wired, 0 external AI dependencies. Big numbers land with judges. The '0' is the punchline — it demos anywhere. Bridge: and it's not a concept — it's already built.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IMPACT — already built (production-ready), scales to thousands, equity impact across Bangladesh. Don't invent metrics. Bridge to roadmap.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ROADMAP — now → next → vision. End energized then drop pitch on the vision line. Bridge: 'leave you with the thought I started with.'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— stand center. Callback to the Tuesday story. Hold final silence. 'I'm Mohammad Shariya. This is UniGPT. Thank you.'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126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3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Tuesday. Second year.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4400" y="233172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“The information </a:t>
            </a:r>
            <a:pPr algn="l" indent="0" marL="0">
              <a:buNone/>
            </a:pPr>
            <a:r>
              <a:rPr lang="en-US" sz="4600" b="1" i="1" dirty="0">
                <a:solidFill>
                  <a:srgbClr val="17C3A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existed</a:t>
            </a:r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.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914400" y="324612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93A6C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It was just somewhere I couldn't reach.</a:t>
            </a:r>
            <a:endParaRPr lang="en-US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1280160"/>
            <a:ext cx="5029200" cy="5029200"/>
          </a:xfrm>
          <a:prstGeom prst="ellipse">
            <a:avLst/>
          </a:prstGeom>
          <a:solidFill>
            <a:srgbClr val="0E9C8B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509760" y="-548640"/>
            <a:ext cx="3108960" cy="3108960"/>
          </a:xfrm>
          <a:prstGeom prst="ellipse">
            <a:avLst/>
          </a:prstGeom>
          <a:solidFill>
            <a:srgbClr val="17C3AC">
              <a:alpha val="16000"/>
            </a:srgbClr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417320"/>
            <a:ext cx="868680" cy="868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8680" y="242316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UniGPT</a:t>
            </a:r>
            <a:endParaRPr lang="en-US" sz="7800" dirty="0"/>
          </a:p>
        </p:txBody>
      </p:sp>
      <p:sp>
        <p:nvSpPr>
          <p:cNvPr id="6" name="Text 3"/>
          <p:cNvSpPr/>
          <p:nvPr/>
        </p:nvSpPr>
        <p:spPr>
          <a:xfrm>
            <a:off x="914400" y="36576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7C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Academic Copilot for Smart University Management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914400" y="5989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Mohammad Shariya</a:t>
            </a:r>
            <a:pPr indent="0" marL="0">
              <a:buNone/>
            </a:pPr>
            <a:r>
              <a:rPr lang="en-US" sz="1300" dirty="0">
                <a:solidFill>
                  <a:srgbClr val="93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Northern University Bangladesh · CSE   ·   MindSparks 2026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548640"/>
            <a:ext cx="1397203" cy="310896"/>
          </a:xfrm>
          <a:prstGeom prst="roundRect">
            <a:avLst>
              <a:gd name="adj" fmla="val 50000"/>
            </a:avLst>
          </a:prstGeom>
          <a:solidFill>
            <a:srgbClr val="D93A3A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48640"/>
            <a:ext cx="1397203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Six platforms. None of them talking.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317236" y="2880360"/>
            <a:ext cx="1554480" cy="1554480"/>
          </a:xfrm>
          <a:prstGeom prst="ellipse">
            <a:avLst/>
          </a:prstGeom>
          <a:solidFill>
            <a:srgbClr val="15294A"/>
          </a:solidFill>
          <a:ln w="25400">
            <a:solidFill>
              <a:srgbClr val="F26D6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0428" y="3200400"/>
            <a:ext cx="768096" cy="7680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317236" y="404164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3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094476" y="3657600"/>
            <a:ext cx="-3007392" cy="-547301"/>
          </a:xfrm>
          <a:prstGeom prst="line">
            <a:avLst/>
          </a:prstGeom>
          <a:noFill/>
          <a:ln w="12700">
            <a:solidFill>
              <a:srgbClr val="F26D6D">
                <a:alpha val="55000"/>
              </a:srgbClr>
            </a:solidFill>
            <a:prstDash val="dash"/>
          </a:ln>
        </p:spPr>
      </p:sp>
      <p:sp>
        <p:nvSpPr>
          <p:cNvPr id="9" name="Shape 6"/>
          <p:cNvSpPr/>
          <p:nvPr/>
        </p:nvSpPr>
        <p:spPr>
          <a:xfrm>
            <a:off x="2538444" y="2607379"/>
            <a:ext cx="1097280" cy="1097280"/>
          </a:xfrm>
          <a:prstGeom prst="ellipse">
            <a:avLst/>
          </a:prstGeom>
          <a:solidFill>
            <a:srgbClr val="15294A"/>
          </a:solidFill>
          <a:ln w="19050">
            <a:solidFill>
              <a:srgbClr val="F26D6D">
                <a:alpha val="70000"/>
              </a:srgbClr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9340" y="2808547"/>
            <a:ext cx="475488" cy="47548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309844" y="3320611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EE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094476" y="3657600"/>
            <a:ext cx="-1094601" cy="-1503696"/>
          </a:xfrm>
          <a:prstGeom prst="line">
            <a:avLst/>
          </a:prstGeom>
          <a:noFill/>
          <a:ln w="12700">
            <a:solidFill>
              <a:srgbClr val="F26D6D">
                <a:alpha val="55000"/>
              </a:srgbClr>
            </a:solidFill>
            <a:prstDash val="dash"/>
          </a:ln>
        </p:spPr>
      </p:sp>
      <p:sp>
        <p:nvSpPr>
          <p:cNvPr id="13" name="Shape 9"/>
          <p:cNvSpPr/>
          <p:nvPr/>
        </p:nvSpPr>
        <p:spPr>
          <a:xfrm>
            <a:off x="4451235" y="1650984"/>
            <a:ext cx="1097280" cy="1097280"/>
          </a:xfrm>
          <a:prstGeom prst="ellipse">
            <a:avLst/>
          </a:prstGeom>
          <a:solidFill>
            <a:srgbClr val="15294A"/>
          </a:solidFill>
          <a:ln w="19050">
            <a:solidFill>
              <a:srgbClr val="F26D6D">
                <a:alpha val="70000"/>
              </a:srgbClr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131" y="1852152"/>
            <a:ext cx="475488" cy="47548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222635" y="2364216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EE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6094476" y="3657600"/>
            <a:ext cx="1600200" cy="-1385814"/>
          </a:xfrm>
          <a:prstGeom prst="line">
            <a:avLst/>
          </a:prstGeom>
          <a:noFill/>
          <a:ln w="12700">
            <a:solidFill>
              <a:srgbClr val="F26D6D">
                <a:alpha val="55000"/>
              </a:srgbClr>
            </a:solidFill>
            <a:prstDash val="dash"/>
          </a:ln>
        </p:spPr>
      </p:sp>
      <p:sp>
        <p:nvSpPr>
          <p:cNvPr id="17" name="Shape 12"/>
          <p:cNvSpPr/>
          <p:nvPr/>
        </p:nvSpPr>
        <p:spPr>
          <a:xfrm>
            <a:off x="7146036" y="1768866"/>
            <a:ext cx="1097280" cy="1097280"/>
          </a:xfrm>
          <a:prstGeom prst="ellipse">
            <a:avLst/>
          </a:prstGeom>
          <a:solidFill>
            <a:srgbClr val="15294A"/>
          </a:solidFill>
          <a:ln w="19050">
            <a:solidFill>
              <a:srgbClr val="F26D6D">
                <a:alpha val="70000"/>
              </a:srgbClr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6932" y="1970034"/>
            <a:ext cx="475488" cy="47548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17436" y="248209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EE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Messenger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6094476" y="3657600"/>
            <a:ext cx="3007392" cy="-547301"/>
          </a:xfrm>
          <a:prstGeom prst="line">
            <a:avLst/>
          </a:prstGeom>
          <a:noFill/>
          <a:ln w="12700">
            <a:solidFill>
              <a:srgbClr val="F26D6D">
                <a:alpha val="55000"/>
              </a:srgbClr>
            </a:solidFill>
            <a:prstDash val="dash"/>
          </a:ln>
        </p:spPr>
      </p:sp>
      <p:sp>
        <p:nvSpPr>
          <p:cNvPr id="21" name="Shape 15"/>
          <p:cNvSpPr/>
          <p:nvPr/>
        </p:nvSpPr>
        <p:spPr>
          <a:xfrm>
            <a:off x="8553228" y="2607379"/>
            <a:ext cx="1097280" cy="1097280"/>
          </a:xfrm>
          <a:prstGeom prst="ellipse">
            <a:avLst/>
          </a:prstGeom>
          <a:solidFill>
            <a:srgbClr val="15294A"/>
          </a:solidFill>
          <a:ln w="19050">
            <a:solidFill>
              <a:srgbClr val="F26D6D">
                <a:alpha val="70000"/>
              </a:srgbClr>
            </a:solidFill>
            <a:prstDash val="solid"/>
          </a:ln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4124" y="2808547"/>
            <a:ext cx="475488" cy="47548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8324628" y="3320611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EE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Classroom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6094476" y="3657600"/>
            <a:ext cx="2771628" cy="800100"/>
          </a:xfrm>
          <a:prstGeom prst="line">
            <a:avLst/>
          </a:prstGeom>
          <a:noFill/>
          <a:ln w="12700">
            <a:solidFill>
              <a:srgbClr val="F26D6D">
                <a:alpha val="55000"/>
              </a:srgbClr>
            </a:solidFill>
            <a:prstDash val="dash"/>
          </a:ln>
        </p:spPr>
      </p:sp>
      <p:sp>
        <p:nvSpPr>
          <p:cNvPr id="25" name="Shape 18"/>
          <p:cNvSpPr/>
          <p:nvPr/>
        </p:nvSpPr>
        <p:spPr>
          <a:xfrm>
            <a:off x="8317464" y="3954780"/>
            <a:ext cx="1097280" cy="1097280"/>
          </a:xfrm>
          <a:prstGeom prst="ellipse">
            <a:avLst/>
          </a:prstGeom>
          <a:solidFill>
            <a:srgbClr val="15294A"/>
          </a:solidFill>
          <a:ln w="19050">
            <a:solidFill>
              <a:srgbClr val="F26D6D">
                <a:alpha val="70000"/>
              </a:srgbClr>
            </a:solidFill>
            <a:prstDash val="solid"/>
          </a:ln>
        </p:spPr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28360" y="4155948"/>
            <a:ext cx="475488" cy="475488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8088864" y="466801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EE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Spreadsheets</a:t>
            </a:r>
            <a:endParaRPr lang="en-US" sz="1100" dirty="0"/>
          </a:p>
        </p:txBody>
      </p:sp>
      <p:sp>
        <p:nvSpPr>
          <p:cNvPr id="28" name="Shape 20"/>
          <p:cNvSpPr/>
          <p:nvPr/>
        </p:nvSpPr>
        <p:spPr>
          <a:xfrm>
            <a:off x="6094476" y="3657600"/>
            <a:ext cx="0" cy="1600200"/>
          </a:xfrm>
          <a:prstGeom prst="line">
            <a:avLst/>
          </a:prstGeom>
          <a:noFill/>
          <a:ln w="12700">
            <a:solidFill>
              <a:srgbClr val="F26D6D">
                <a:alpha val="55000"/>
              </a:srgbClr>
            </a:solidFill>
            <a:prstDash val="dash"/>
          </a:ln>
        </p:spPr>
      </p:sp>
      <p:sp>
        <p:nvSpPr>
          <p:cNvPr id="29" name="Shape 21"/>
          <p:cNvSpPr/>
          <p:nvPr/>
        </p:nvSpPr>
        <p:spPr>
          <a:xfrm>
            <a:off x="5545836" y="4754880"/>
            <a:ext cx="1097280" cy="1097280"/>
          </a:xfrm>
          <a:prstGeom prst="ellipse">
            <a:avLst/>
          </a:prstGeom>
          <a:solidFill>
            <a:srgbClr val="15294A"/>
          </a:solidFill>
          <a:ln w="19050">
            <a:solidFill>
              <a:srgbClr val="F26D6D">
                <a:alpha val="70000"/>
              </a:srgbClr>
            </a:solidFill>
            <a:prstDash val="solid"/>
          </a:ln>
        </p:spPr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56732" y="4956048"/>
            <a:ext cx="475488" cy="475488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5317236" y="546811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EE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Office</a:t>
            </a:r>
            <a:endParaRPr lang="en-US" sz="1100" dirty="0"/>
          </a:p>
        </p:txBody>
      </p:sp>
      <p:sp>
        <p:nvSpPr>
          <p:cNvPr id="32" name="Text 23"/>
          <p:cNvSpPr/>
          <p:nvPr/>
        </p:nvSpPr>
        <p:spPr>
          <a:xfrm>
            <a:off x="731520" y="6263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3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file shared Monday is buried under 100 messages by Friday — not deleted, just lost.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548640"/>
            <a:ext cx="1397203" cy="310896"/>
          </a:xfrm>
          <a:prstGeom prst="roundRect">
            <a:avLst>
              <a:gd name="adj" fmla="val 50000"/>
            </a:avLst>
          </a:prstGeom>
          <a:solidFill>
            <a:srgbClr val="D93A3A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48640"/>
            <a:ext cx="1397203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other side is just as broken.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77240" y="19659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26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— buried in repetition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77240" y="2514600"/>
            <a:ext cx="5074920" cy="713232"/>
          </a:xfrm>
          <a:prstGeom prst="roundRect">
            <a:avLst>
              <a:gd name="adj" fmla="val 12821"/>
            </a:avLst>
          </a:prstGeom>
          <a:solidFill>
            <a:srgbClr val="15294A"/>
          </a:solidFill>
          <a:ln/>
        </p:spPr>
      </p:sp>
      <p:sp>
        <p:nvSpPr>
          <p:cNvPr id="7" name="Shape 5"/>
          <p:cNvSpPr/>
          <p:nvPr/>
        </p:nvSpPr>
        <p:spPr>
          <a:xfrm>
            <a:off x="960120" y="2642616"/>
            <a:ext cx="457200" cy="457200"/>
          </a:xfrm>
          <a:prstGeom prst="ellipse">
            <a:avLst/>
          </a:prstGeom>
          <a:solidFill>
            <a:srgbClr val="2A1519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" y="2743200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00200" y="2514600"/>
            <a:ext cx="4114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on paper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77240" y="3383280"/>
            <a:ext cx="5074920" cy="713232"/>
          </a:xfrm>
          <a:prstGeom prst="roundRect">
            <a:avLst>
              <a:gd name="adj" fmla="val 12821"/>
            </a:avLst>
          </a:prstGeom>
          <a:solidFill>
            <a:srgbClr val="15294A"/>
          </a:solidFill>
          <a:ln/>
        </p:spPr>
      </p:sp>
      <p:sp>
        <p:nvSpPr>
          <p:cNvPr id="11" name="Shape 8"/>
          <p:cNvSpPr/>
          <p:nvPr/>
        </p:nvSpPr>
        <p:spPr>
          <a:xfrm>
            <a:off x="960120" y="3511296"/>
            <a:ext cx="457200" cy="457200"/>
          </a:xfrm>
          <a:prstGeom prst="ellipse">
            <a:avLst/>
          </a:prstGeom>
          <a:solidFill>
            <a:srgbClr val="2A1519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" y="3611880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00200" y="3383280"/>
            <a:ext cx="4114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papers by hand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777240" y="4251960"/>
            <a:ext cx="5074920" cy="713232"/>
          </a:xfrm>
          <a:prstGeom prst="roundRect">
            <a:avLst>
              <a:gd name="adj" fmla="val 12821"/>
            </a:avLst>
          </a:prstGeom>
          <a:solidFill>
            <a:srgbClr val="15294A"/>
          </a:solidFill>
          <a:ln/>
        </p:spPr>
      </p:sp>
      <p:sp>
        <p:nvSpPr>
          <p:cNvPr id="15" name="Shape 11"/>
          <p:cNvSpPr/>
          <p:nvPr/>
        </p:nvSpPr>
        <p:spPr>
          <a:xfrm>
            <a:off x="960120" y="4379976"/>
            <a:ext cx="457200" cy="457200"/>
          </a:xfrm>
          <a:prstGeom prst="ellipse">
            <a:avLst/>
          </a:prstGeom>
          <a:solidFill>
            <a:srgbClr val="2A1519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" y="4480560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4251960"/>
            <a:ext cx="4114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 checked one by one</a:t>
            </a:r>
            <a:endParaRPr lang="en-US" sz="1600" dirty="0"/>
          </a:p>
        </p:txBody>
      </p:sp>
      <p:sp>
        <p:nvSpPr>
          <p:cNvPr id="18" name="Shape 13"/>
          <p:cNvSpPr/>
          <p:nvPr/>
        </p:nvSpPr>
        <p:spPr>
          <a:xfrm>
            <a:off x="777240" y="5120640"/>
            <a:ext cx="5074920" cy="713232"/>
          </a:xfrm>
          <a:prstGeom prst="roundRect">
            <a:avLst>
              <a:gd name="adj" fmla="val 12821"/>
            </a:avLst>
          </a:prstGeom>
          <a:solidFill>
            <a:srgbClr val="15294A"/>
          </a:solidFill>
          <a:ln/>
        </p:spPr>
      </p:sp>
      <p:sp>
        <p:nvSpPr>
          <p:cNvPr id="19" name="Shape 14"/>
          <p:cNvSpPr/>
          <p:nvPr/>
        </p:nvSpPr>
        <p:spPr>
          <a:xfrm>
            <a:off x="960120" y="5248656"/>
            <a:ext cx="457200" cy="457200"/>
          </a:xfrm>
          <a:prstGeom prst="ellipse">
            <a:avLst/>
          </a:prstGeom>
          <a:solidFill>
            <a:srgbClr val="2A1519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704" y="5349240"/>
            <a:ext cx="256032" cy="25603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600200" y="5120640"/>
            <a:ext cx="4114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Grades calculated manually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6400800" y="19659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26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ADMINISTRATION — flying blind</a:t>
            </a:r>
            <a:endParaRPr lang="en-US" sz="1500" dirty="0"/>
          </a:p>
        </p:txBody>
      </p:sp>
      <p:sp>
        <p:nvSpPr>
          <p:cNvPr id="23" name="Shape 17"/>
          <p:cNvSpPr/>
          <p:nvPr/>
        </p:nvSpPr>
        <p:spPr>
          <a:xfrm>
            <a:off x="6400800" y="2514600"/>
            <a:ext cx="5029200" cy="3410712"/>
          </a:xfrm>
          <a:prstGeom prst="roundRect">
            <a:avLst>
              <a:gd name="adj" fmla="val 3753"/>
            </a:avLst>
          </a:prstGeom>
          <a:solidFill>
            <a:srgbClr val="15294A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8458200" y="2880360"/>
            <a:ext cx="914400" cy="914400"/>
          </a:xfrm>
          <a:prstGeom prst="ellipse">
            <a:avLst/>
          </a:prstGeom>
          <a:solidFill>
            <a:srgbClr val="2A1519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05088" y="3127248"/>
            <a:ext cx="420624" cy="42062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400800" y="39319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visibility</a:t>
            </a:r>
            <a:endParaRPr lang="en-US" sz="2000" dirty="0"/>
          </a:p>
        </p:txBody>
      </p:sp>
      <p:sp>
        <p:nvSpPr>
          <p:cNvPr id="27" name="Text 20"/>
          <p:cNvSpPr/>
          <p:nvPr/>
        </p:nvSpPr>
        <p:spPr>
          <a:xfrm>
            <a:off x="6720840" y="4434840"/>
            <a:ext cx="4389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3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 often don't know a student is failing or skipping class — until the semester is already over.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731520" y="619963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BEE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groups. One root cause: the university has no single brain.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548640"/>
            <a:ext cx="1495958" cy="310896"/>
          </a:xfrm>
          <a:prstGeom prst="roundRect">
            <a:avLst>
              <a:gd name="adj" fmla="val 50000"/>
            </a:avLst>
          </a:prstGeom>
          <a:solidFill>
            <a:srgbClr val="0E9C8B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48640"/>
            <a:ext cx="149595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3223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Ten tools collapse into one.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860036" y="2286000"/>
            <a:ext cx="2468880" cy="2468880"/>
          </a:xfrm>
          <a:prstGeom prst="ellipse">
            <a:avLst/>
          </a:prstGeom>
          <a:solidFill>
            <a:srgbClr val="0B1A2E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91556" y="2788920"/>
            <a:ext cx="1005840" cy="10058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860036" y="37947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UniGPT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777240" y="5074920"/>
            <a:ext cx="3209544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033272" y="5367528"/>
            <a:ext cx="777240" cy="777240"/>
          </a:xfrm>
          <a:prstGeom prst="ellipse">
            <a:avLst/>
          </a:prstGeom>
          <a:solidFill>
            <a:srgbClr val="F6F8FC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7864" y="5532120"/>
            <a:ext cx="448056" cy="4480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965960" y="533095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1965960" y="5696712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copilot · grades · materials · quizzes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4489704" y="5074920"/>
            <a:ext cx="3209544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745736" y="5367528"/>
            <a:ext cx="777240" cy="777240"/>
          </a:xfrm>
          <a:prstGeom prst="ellipse">
            <a:avLst/>
          </a:prstGeom>
          <a:solidFill>
            <a:srgbClr val="F6F8FC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0328" y="5532120"/>
            <a:ext cx="448056" cy="44805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678424" y="533095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5678424" y="5696712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assistant · attendance · grading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8202168" y="5074920"/>
            <a:ext cx="3209544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458200" y="5367528"/>
            <a:ext cx="777240" cy="777240"/>
          </a:xfrm>
          <a:prstGeom prst="ellipse">
            <a:avLst/>
          </a:prstGeom>
          <a:solidFill>
            <a:srgbClr val="F6F8FC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2792" y="5532120"/>
            <a:ext cx="448056" cy="44805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390888" y="533095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800" dirty="0"/>
          </a:p>
        </p:txBody>
      </p:sp>
      <p:sp>
        <p:nvSpPr>
          <p:cNvPr id="22" name="Text 16"/>
          <p:cNvSpPr/>
          <p:nvPr/>
        </p:nvSpPr>
        <p:spPr>
          <a:xfrm>
            <a:off x="9390888" y="5696712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· documents · analytics · AI settings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6094476" y="4754880"/>
            <a:ext cx="-3717036" cy="320040"/>
          </a:xfrm>
          <a:prstGeom prst="line">
            <a:avLst/>
          </a:prstGeom>
          <a:noFill/>
          <a:ln w="19050">
            <a:solidFill>
              <a:srgbClr val="0E9C8B">
                <a:alpha val="70000"/>
              </a:srgbClr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6094476" y="4754880"/>
            <a:ext cx="0" cy="320040"/>
          </a:xfrm>
          <a:prstGeom prst="line">
            <a:avLst/>
          </a:prstGeom>
          <a:noFill/>
          <a:ln w="19050">
            <a:solidFill>
              <a:srgbClr val="0E9C8B">
                <a:alpha val="70000"/>
              </a:srgbClr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6094476" y="4754880"/>
            <a:ext cx="3707892" cy="320040"/>
          </a:xfrm>
          <a:prstGeom prst="line">
            <a:avLst/>
          </a:prstGeom>
          <a:noFill/>
          <a:ln w="19050">
            <a:solidFill>
              <a:srgbClr val="0E9C8B">
                <a:alpha val="70000"/>
              </a:srgbClr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731520" y="18288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login. Three role-based experiences. You only ever see your own classes.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548640"/>
            <a:ext cx="1792224" cy="310896"/>
          </a:xfrm>
          <a:prstGeom prst="roundRect">
            <a:avLst>
              <a:gd name="adj" fmla="val 50000"/>
            </a:avLst>
          </a:prstGeom>
          <a:solidFill>
            <a:srgbClr val="0E9C8B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48640"/>
            <a:ext cx="17922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INNOVATION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Grounded AI that never guesses.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77240" y="178308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3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 (RAG) — every answer is built only from approved documents.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77240" y="2606040"/>
            <a:ext cx="2331720" cy="1691640"/>
          </a:xfrm>
          <a:prstGeom prst="roundRect">
            <a:avLst>
              <a:gd name="adj" fmla="val 7568"/>
            </a:avLst>
          </a:prstGeom>
          <a:solidFill>
            <a:srgbClr val="15294A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559052" y="2862072"/>
            <a:ext cx="768096" cy="768096"/>
          </a:xfrm>
          <a:prstGeom prst="ellipse">
            <a:avLst/>
          </a:prstGeom>
          <a:solidFill>
            <a:srgbClr val="103038"/>
          </a:solidFill>
          <a:ln w="12700">
            <a:solidFill>
              <a:srgbClr val="17C3AC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3644" y="3026664"/>
            <a:ext cx="438912" cy="4389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365760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77240" y="395935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3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asks</a:t>
            </a:r>
            <a:endParaRPr lang="en-US" sz="11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8688" y="3264408"/>
            <a:ext cx="347472" cy="347472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675888" y="2606040"/>
            <a:ext cx="2331720" cy="1691640"/>
          </a:xfrm>
          <a:prstGeom prst="roundRect">
            <a:avLst>
              <a:gd name="adj" fmla="val 7568"/>
            </a:avLst>
          </a:prstGeom>
          <a:solidFill>
            <a:srgbClr val="15294A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457700" y="2862072"/>
            <a:ext cx="768096" cy="768096"/>
          </a:xfrm>
          <a:prstGeom prst="ellipse">
            <a:avLst/>
          </a:prstGeom>
          <a:solidFill>
            <a:srgbClr val="103038"/>
          </a:solidFill>
          <a:ln w="12700">
            <a:solidFill>
              <a:srgbClr val="17C3AC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2292" y="3026664"/>
            <a:ext cx="438912" cy="43891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675888" y="365760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3675888" y="395935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3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docs only</a:t>
            </a:r>
            <a:endParaRPr lang="en-US" sz="110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7336" y="3264408"/>
            <a:ext cx="347472" cy="347472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6574536" y="2606040"/>
            <a:ext cx="2331720" cy="1691640"/>
          </a:xfrm>
          <a:prstGeom prst="roundRect">
            <a:avLst>
              <a:gd name="adj" fmla="val 7568"/>
            </a:avLst>
          </a:prstGeom>
          <a:solidFill>
            <a:srgbClr val="15294A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7356348" y="2862072"/>
            <a:ext cx="768096" cy="768096"/>
          </a:xfrm>
          <a:prstGeom prst="ellipse">
            <a:avLst/>
          </a:prstGeom>
          <a:solidFill>
            <a:srgbClr val="103038"/>
          </a:solidFill>
          <a:ln w="12700">
            <a:solidFill>
              <a:srgbClr val="17C3AC"/>
            </a:solidFill>
            <a:prstDash val="solid"/>
          </a:ln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0940" y="3026664"/>
            <a:ext cx="438912" cy="43891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574536" y="365760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1600" dirty="0"/>
          </a:p>
        </p:txBody>
      </p:sp>
      <p:sp>
        <p:nvSpPr>
          <p:cNvPr id="22" name="Text 15"/>
          <p:cNvSpPr/>
          <p:nvPr/>
        </p:nvSpPr>
        <p:spPr>
          <a:xfrm>
            <a:off x="6574536" y="395935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3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relevant passages</a:t>
            </a:r>
            <a:endParaRPr lang="en-US" sz="1100" dirty="0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15984" y="3264408"/>
            <a:ext cx="347472" cy="347472"/>
          </a:xfrm>
          <a:prstGeom prst="rect">
            <a:avLst/>
          </a:prstGeom>
        </p:spPr>
      </p:pic>
      <p:sp>
        <p:nvSpPr>
          <p:cNvPr id="24" name="Shape 16"/>
          <p:cNvSpPr/>
          <p:nvPr/>
        </p:nvSpPr>
        <p:spPr>
          <a:xfrm>
            <a:off x="9473184" y="2606040"/>
            <a:ext cx="2331720" cy="1691640"/>
          </a:xfrm>
          <a:prstGeom prst="roundRect">
            <a:avLst>
              <a:gd name="adj" fmla="val 7568"/>
            </a:avLst>
          </a:prstGeom>
          <a:solidFill>
            <a:srgbClr val="15294A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25" name="Shape 17"/>
          <p:cNvSpPr/>
          <p:nvPr/>
        </p:nvSpPr>
        <p:spPr>
          <a:xfrm>
            <a:off x="10254996" y="2862072"/>
            <a:ext cx="768096" cy="768096"/>
          </a:xfrm>
          <a:prstGeom prst="ellipse">
            <a:avLst/>
          </a:prstGeom>
          <a:solidFill>
            <a:srgbClr val="103038"/>
          </a:solidFill>
          <a:ln w="12700">
            <a:solidFill>
              <a:srgbClr val="17C3AC"/>
            </a:solidFill>
            <a:prstDash val="solid"/>
          </a:ln>
        </p:spPr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19588" y="3026664"/>
            <a:ext cx="438912" cy="438912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9473184" y="365760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 Answer</a:t>
            </a:r>
            <a:endParaRPr lang="en-US" sz="1600" dirty="0"/>
          </a:p>
        </p:txBody>
      </p:sp>
      <p:sp>
        <p:nvSpPr>
          <p:cNvPr id="28" name="Text 19"/>
          <p:cNvSpPr/>
          <p:nvPr/>
        </p:nvSpPr>
        <p:spPr>
          <a:xfrm>
            <a:off x="9473184" y="395935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3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 · page · confidence</a:t>
            </a:r>
            <a:endParaRPr lang="en-US" sz="1100" dirty="0"/>
          </a:p>
        </p:txBody>
      </p:sp>
      <p:sp>
        <p:nvSpPr>
          <p:cNvPr id="29" name="Shape 20"/>
          <p:cNvSpPr/>
          <p:nvPr/>
        </p:nvSpPr>
        <p:spPr>
          <a:xfrm>
            <a:off x="3108960" y="4800600"/>
            <a:ext cx="5971032" cy="1417320"/>
          </a:xfrm>
          <a:prstGeom prst="roundRect">
            <a:avLst>
              <a:gd name="adj" fmla="val 7742"/>
            </a:avLst>
          </a:prstGeom>
          <a:solidFill>
            <a:srgbClr val="103038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pic>
        <p:nvPicPr>
          <p:cNvPr id="30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83280" y="5074920"/>
            <a:ext cx="457200" cy="457200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3977640" y="50292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C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is provable</a:t>
            </a:r>
            <a:endParaRPr lang="en-US" sz="1600" dirty="0"/>
          </a:p>
        </p:txBody>
      </p:sp>
      <p:sp>
        <p:nvSpPr>
          <p:cNvPr id="32" name="Text 22"/>
          <p:cNvSpPr/>
          <p:nvPr/>
        </p:nvSpPr>
        <p:spPr>
          <a:xfrm>
            <a:off x="3977640" y="544068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pPr indent="0" marL="0">
              <a:buNone/>
            </a:pPr>
            <a:r>
              <a:rPr lang="en-US" sz="1400" dirty="0">
                <a:solidFill>
                  <a:srgbClr val="BEE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Handbook, p.12</a:t>
            </a:r>
            <a:pPr indent="0" marL="0">
              <a:buNone/>
            </a:pPr>
            <a:r>
              <a:rPr lang="en-US" sz="1400" dirty="0">
                <a:solidFill>
                  <a:srgbClr val="93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1400" b="1" dirty="0">
                <a:solidFill>
                  <a:srgbClr val="17C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94% confidence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548640"/>
            <a:ext cx="1495958" cy="310896"/>
          </a:xfrm>
          <a:prstGeom prst="roundRect">
            <a:avLst>
              <a:gd name="adj" fmla="val 50000"/>
            </a:avLst>
          </a:prstGeom>
          <a:solidFill>
            <a:srgbClr val="0E9C8B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48640"/>
            <a:ext cx="149595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STUDENTS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3223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 personal academic copilot.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77240" y="1965960"/>
            <a:ext cx="5440680" cy="4160520"/>
          </a:xfrm>
          <a:prstGeom prst="roundRect">
            <a:avLst>
              <a:gd name="adj" fmla="val 3077"/>
            </a:avLst>
          </a:prstGeom>
          <a:solidFill>
            <a:srgbClr val="0B1A2E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51560" y="2194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C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Tutor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468880" y="2697480"/>
            <a:ext cx="3566160" cy="548640"/>
          </a:xfrm>
          <a:prstGeom prst="roundRect">
            <a:avLst>
              <a:gd name="adj" fmla="val 20000"/>
            </a:avLst>
          </a:prstGeom>
          <a:solidFill>
            <a:srgbClr val="0E9C8B"/>
          </a:solidFill>
          <a:ln/>
        </p:spPr>
      </p:sp>
      <p:sp>
        <p:nvSpPr>
          <p:cNvPr id="8" name="Text 6"/>
          <p:cNvSpPr/>
          <p:nvPr/>
        </p:nvSpPr>
        <p:spPr>
          <a:xfrm>
            <a:off x="2606040" y="2697480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is the CSE301 retake exam?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005840" y="3429000"/>
            <a:ext cx="4206240" cy="1371600"/>
          </a:xfrm>
          <a:prstGeom prst="roundRect">
            <a:avLst>
              <a:gd name="adj" fmla="val 8000"/>
            </a:avLst>
          </a:prstGeom>
          <a:solidFill>
            <a:srgbClr val="15294A"/>
          </a:solidFill>
          <a:ln/>
        </p:spPr>
      </p:sp>
      <p:sp>
        <p:nvSpPr>
          <p:cNvPr id="10" name="Text 8"/>
          <p:cNvSpPr/>
          <p:nvPr/>
        </p:nvSpPr>
        <p:spPr>
          <a:xfrm>
            <a:off x="1188720" y="3566160"/>
            <a:ext cx="3886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CSE301 retake is on July 14, 10:00 AM in Room 402.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1188720" y="4224528"/>
            <a:ext cx="3657600" cy="411480"/>
          </a:xfrm>
          <a:prstGeom prst="roundRect">
            <a:avLst>
              <a:gd name="adj" fmla="val 22222"/>
            </a:avLst>
          </a:prstGeom>
          <a:solidFill>
            <a:srgbClr val="103038"/>
          </a:solidFill>
          <a:ln/>
        </p:spPr>
      </p:sp>
      <p:sp>
        <p:nvSpPr>
          <p:cNvPr id="12" name="Text 10"/>
          <p:cNvSpPr/>
          <p:nvPr/>
        </p:nvSpPr>
        <p:spPr>
          <a:xfrm>
            <a:off x="1325880" y="4224528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EE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Exam Notice, p.3 </a:t>
            </a:r>
            <a:pPr indent="0" marL="0">
              <a:buNone/>
            </a:pPr>
            <a:r>
              <a:rPr lang="en-US" sz="1100" b="1" dirty="0">
                <a:solidFill>
                  <a:srgbClr val="17C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96%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51560" y="5074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3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· cited · in seconds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0" y="1965960"/>
            <a:ext cx="50292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629400" y="2176272"/>
            <a:ext cx="502920" cy="502920"/>
          </a:xfrm>
          <a:prstGeom prst="ellipse">
            <a:avLst/>
          </a:prstGeom>
          <a:solidFill>
            <a:srgbClr val="F6F8FC"/>
          </a:solidFill>
          <a:ln/>
        </p:spPr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39128" y="2286000"/>
            <a:ext cx="283464" cy="283464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7315200" y="2112264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chat modes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7315200" y="24688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prep · assignments · research · career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400800" y="3026664"/>
            <a:ext cx="50292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629400" y="3236976"/>
            <a:ext cx="502920" cy="502920"/>
          </a:xfrm>
          <a:prstGeom prst="ellipse">
            <a:avLst/>
          </a:prstGeom>
          <a:solidFill>
            <a:srgbClr val="F6F8FC"/>
          </a:solidFill>
          <a:ln/>
        </p:spPr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9128" y="3346704"/>
            <a:ext cx="283464" cy="283464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7315200" y="317296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attendance &amp; GPA</a:t>
            </a:r>
            <a:endParaRPr lang="en-US" sz="1600" dirty="0"/>
          </a:p>
        </p:txBody>
      </p:sp>
      <p:sp>
        <p:nvSpPr>
          <p:cNvPr id="23" name="Text 19"/>
          <p:cNvSpPr/>
          <p:nvPr/>
        </p:nvSpPr>
        <p:spPr>
          <a:xfrm>
            <a:off x="7315200" y="3529584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your standing in real time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6400800" y="4087368"/>
            <a:ext cx="50292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6629400" y="4297680"/>
            <a:ext cx="502920" cy="502920"/>
          </a:xfrm>
          <a:prstGeom prst="ellipse">
            <a:avLst/>
          </a:prstGeom>
          <a:solidFill>
            <a:srgbClr val="F6F8FC"/>
          </a:solidFill>
          <a:ln/>
        </p:spPr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9128" y="4407408"/>
            <a:ext cx="283464" cy="283464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7315200" y="423367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 &amp; roadmap</a:t>
            </a:r>
            <a:endParaRPr lang="en-US" sz="1600" dirty="0"/>
          </a:p>
        </p:txBody>
      </p:sp>
      <p:sp>
        <p:nvSpPr>
          <p:cNvPr id="28" name="Text 23"/>
          <p:cNvSpPr/>
          <p:nvPr/>
        </p:nvSpPr>
        <p:spPr>
          <a:xfrm>
            <a:off x="7315200" y="459028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degree progress, any time</a:t>
            </a:r>
            <a:endParaRPr lang="en-US" sz="1200" dirty="0"/>
          </a:p>
        </p:txBody>
      </p:sp>
      <p:sp>
        <p:nvSpPr>
          <p:cNvPr id="29" name="Shape 24"/>
          <p:cNvSpPr/>
          <p:nvPr/>
        </p:nvSpPr>
        <p:spPr>
          <a:xfrm>
            <a:off x="6400800" y="5148072"/>
            <a:ext cx="50292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6629400" y="5358384"/>
            <a:ext cx="502920" cy="502920"/>
          </a:xfrm>
          <a:prstGeom prst="ellipse">
            <a:avLst/>
          </a:prstGeom>
          <a:solidFill>
            <a:srgbClr val="F6F8FC"/>
          </a:solidFill>
          <a:ln/>
        </p:spPr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9128" y="5468112"/>
            <a:ext cx="283464" cy="283464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7315200" y="5294376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Proctored quizzes</a:t>
            </a:r>
            <a:endParaRPr lang="en-US" sz="1600" dirty="0"/>
          </a:p>
        </p:txBody>
      </p:sp>
      <p:sp>
        <p:nvSpPr>
          <p:cNvPr id="33" name="Text 27"/>
          <p:cNvSpPr/>
          <p:nvPr/>
        </p:nvSpPr>
        <p:spPr>
          <a:xfrm>
            <a:off x="7315200" y="565099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class tests, graded instantly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548640"/>
            <a:ext cx="1397203" cy="310896"/>
          </a:xfrm>
          <a:prstGeom prst="roundRect">
            <a:avLst>
              <a:gd name="adj" fmla="val 50000"/>
            </a:avLst>
          </a:prstGeom>
          <a:solidFill>
            <a:srgbClr val="0E9C8B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48640"/>
            <a:ext cx="1397203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FACULTY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3223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An assistant that does the busywork.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77240" y="1965960"/>
            <a:ext cx="5440680" cy="4160520"/>
          </a:xfrm>
          <a:prstGeom prst="roundRect">
            <a:avLst>
              <a:gd name="adj" fmla="val 3077"/>
            </a:avLst>
          </a:prstGeom>
          <a:solidFill>
            <a:srgbClr val="0B1A2E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212848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24028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C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Teaching Assistant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1051560" y="2880360"/>
            <a:ext cx="4937760" cy="548640"/>
          </a:xfrm>
          <a:prstGeom prst="roundRect">
            <a:avLst>
              <a:gd name="adj" fmla="val 16667"/>
            </a:avLst>
          </a:prstGeom>
          <a:solidFill>
            <a:srgbClr val="0E9C8B"/>
          </a:solidFill>
          <a:ln/>
        </p:spPr>
      </p:sp>
      <p:sp>
        <p:nvSpPr>
          <p:cNvPr id="9" name="Text 6"/>
          <p:cNvSpPr/>
          <p:nvPr/>
        </p:nvSpPr>
        <p:spPr>
          <a:xfrm>
            <a:off x="1234440" y="288036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Generate a 10-question quiz on Chapter 4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1051560" y="3611880"/>
            <a:ext cx="4937760" cy="457200"/>
          </a:xfrm>
          <a:prstGeom prst="roundRect">
            <a:avLst>
              <a:gd name="adj" fmla="val 16000"/>
            </a:avLst>
          </a:prstGeom>
          <a:solidFill>
            <a:srgbClr val="15294A"/>
          </a:solidFill>
          <a:ln/>
        </p:spPr>
      </p:sp>
      <p:sp>
        <p:nvSpPr>
          <p:cNvPr id="11" name="Text 8"/>
          <p:cNvSpPr/>
          <p:nvPr/>
        </p:nvSpPr>
        <p:spPr>
          <a:xfrm>
            <a:off x="1234440" y="361188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Define normalization in DBMS…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1051560" y="4178808"/>
            <a:ext cx="4937760" cy="457200"/>
          </a:xfrm>
          <a:prstGeom prst="roundRect">
            <a:avLst>
              <a:gd name="adj" fmla="val 16000"/>
            </a:avLst>
          </a:prstGeom>
          <a:solidFill>
            <a:srgbClr val="15294A"/>
          </a:solidFill>
          <a:ln/>
        </p:spPr>
      </p:sp>
      <p:sp>
        <p:nvSpPr>
          <p:cNvPr id="13" name="Text 10"/>
          <p:cNvSpPr/>
          <p:nvPr/>
        </p:nvSpPr>
        <p:spPr>
          <a:xfrm>
            <a:off x="1234440" y="4178808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Which normal form removes…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1051560" y="4745736"/>
            <a:ext cx="4937760" cy="457200"/>
          </a:xfrm>
          <a:prstGeom prst="roundRect">
            <a:avLst>
              <a:gd name="adj" fmla="val 16000"/>
            </a:avLst>
          </a:prstGeom>
          <a:solidFill>
            <a:srgbClr val="15294A"/>
          </a:solidFill>
          <a:ln/>
        </p:spPr>
      </p:sp>
      <p:sp>
        <p:nvSpPr>
          <p:cNvPr id="15" name="Text 12"/>
          <p:cNvSpPr/>
          <p:nvPr/>
        </p:nvSpPr>
        <p:spPr>
          <a:xfrm>
            <a:off x="1234440" y="4745736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True / False: a primary key…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051560" y="54406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3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only — nothing reaches students until the teacher publishes.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6400800" y="1965960"/>
            <a:ext cx="50292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629400" y="2176272"/>
            <a:ext cx="502920" cy="502920"/>
          </a:xfrm>
          <a:prstGeom prst="ellipse">
            <a:avLst/>
          </a:prstGeom>
          <a:solidFill>
            <a:srgbClr val="F6F8FC"/>
          </a:solidFill>
          <a:ln/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9128" y="2286000"/>
            <a:ext cx="283464" cy="283464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7315200" y="2112264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7315200" y="24688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quizzes &amp; assignments from material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6400800" y="3026664"/>
            <a:ext cx="50292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629400" y="3236976"/>
            <a:ext cx="502920" cy="502920"/>
          </a:xfrm>
          <a:prstGeom prst="ellipse">
            <a:avLst/>
          </a:prstGeom>
          <a:solidFill>
            <a:srgbClr val="F6F8FC"/>
          </a:solidFill>
          <a:ln/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9128" y="3346704"/>
            <a:ext cx="283464" cy="283464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7315200" y="317296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attendance</a:t>
            </a:r>
            <a:endParaRPr lang="en-US" sz="1600" dirty="0"/>
          </a:p>
        </p:txBody>
      </p:sp>
      <p:sp>
        <p:nvSpPr>
          <p:cNvPr id="26" name="Text 21"/>
          <p:cNvSpPr/>
          <p:nvPr/>
        </p:nvSpPr>
        <p:spPr>
          <a:xfrm>
            <a:off x="7315200" y="3529584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screen, not a spreadsheet</a:t>
            </a:r>
            <a:endParaRPr lang="en-US" sz="1200" dirty="0"/>
          </a:p>
        </p:txBody>
      </p:sp>
      <p:sp>
        <p:nvSpPr>
          <p:cNvPr id="27" name="Shape 22"/>
          <p:cNvSpPr/>
          <p:nvPr/>
        </p:nvSpPr>
        <p:spPr>
          <a:xfrm>
            <a:off x="6400800" y="4087368"/>
            <a:ext cx="50292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6629400" y="4297680"/>
            <a:ext cx="502920" cy="502920"/>
          </a:xfrm>
          <a:prstGeom prst="ellipse">
            <a:avLst/>
          </a:prstGeom>
          <a:solidFill>
            <a:srgbClr val="F6F8FC"/>
          </a:solidFill>
          <a:ln/>
        </p:spPr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9128" y="4407408"/>
            <a:ext cx="283464" cy="283464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7315200" y="423367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grading feedback</a:t>
            </a:r>
            <a:endParaRPr lang="en-US" sz="1600" dirty="0"/>
          </a:p>
        </p:txBody>
      </p:sp>
      <p:sp>
        <p:nvSpPr>
          <p:cNvPr id="31" name="Text 25"/>
          <p:cNvSpPr/>
          <p:nvPr/>
        </p:nvSpPr>
        <p:spPr>
          <a:xfrm>
            <a:off x="7315200" y="459028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Strengths, gaps &amp; a comment to approve</a:t>
            </a:r>
            <a:endParaRPr lang="en-US" sz="1200" dirty="0"/>
          </a:p>
        </p:txBody>
      </p:sp>
      <p:sp>
        <p:nvSpPr>
          <p:cNvPr id="32" name="Shape 26"/>
          <p:cNvSpPr/>
          <p:nvPr/>
        </p:nvSpPr>
        <p:spPr>
          <a:xfrm>
            <a:off x="6400800" y="5148072"/>
            <a:ext cx="50292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6629400" y="5358384"/>
            <a:ext cx="502920" cy="502920"/>
          </a:xfrm>
          <a:prstGeom prst="ellipse">
            <a:avLst/>
          </a:prstGeom>
          <a:solidFill>
            <a:srgbClr val="F6F8FC"/>
          </a:solidFill>
          <a:ln/>
        </p:spPr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9128" y="5468112"/>
            <a:ext cx="283464" cy="283464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7315200" y="5294376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At-risk alerts</a:t>
            </a:r>
            <a:endParaRPr lang="en-US" sz="1600" dirty="0"/>
          </a:p>
        </p:txBody>
      </p:sp>
      <p:sp>
        <p:nvSpPr>
          <p:cNvPr id="36" name="Text 29"/>
          <p:cNvSpPr/>
          <p:nvPr/>
        </p:nvSpPr>
        <p:spPr>
          <a:xfrm>
            <a:off x="7315200" y="565099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struggling students during the term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548640"/>
            <a:ext cx="1199693" cy="310896"/>
          </a:xfrm>
          <a:prstGeom prst="roundRect">
            <a:avLst>
              <a:gd name="adj" fmla="val 50000"/>
            </a:avLst>
          </a:prstGeom>
          <a:solidFill>
            <a:srgbClr val="0E9C8B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48640"/>
            <a:ext cx="1199693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ADMIN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13223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Mission control — and the trust layer.</a:t>
            </a:r>
            <a:endParaRPr lang="en-US" sz="3500" dirty="0"/>
          </a:p>
        </p:txBody>
      </p:sp>
      <p:sp>
        <p:nvSpPr>
          <p:cNvPr id="5" name="Shape 3"/>
          <p:cNvSpPr/>
          <p:nvPr/>
        </p:nvSpPr>
        <p:spPr>
          <a:xfrm>
            <a:off x="777240" y="1965960"/>
            <a:ext cx="10634472" cy="1965960"/>
          </a:xfrm>
          <a:prstGeom prst="roundRect">
            <a:avLst>
              <a:gd name="adj" fmla="val 6512"/>
            </a:avLst>
          </a:prstGeom>
          <a:solidFill>
            <a:srgbClr val="0B1A2E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51560" y="2194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C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document becomes AI knowledge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051560" y="2697480"/>
            <a:ext cx="2240280" cy="914400"/>
          </a:xfrm>
          <a:prstGeom prst="roundRect">
            <a:avLst>
              <a:gd name="adj" fmla="val 10000"/>
            </a:avLst>
          </a:prstGeom>
          <a:solidFill>
            <a:srgbClr val="15294A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2935224"/>
            <a:ext cx="420624" cy="42062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64792" y="2807208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764792" y="31546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review</a:t>
            </a:r>
            <a:endParaRPr lang="en-US" sz="105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6704" y="2990088"/>
            <a:ext cx="310896" cy="31089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749040" y="2697480"/>
            <a:ext cx="2240280" cy="914400"/>
          </a:xfrm>
          <a:prstGeom prst="roundRect">
            <a:avLst>
              <a:gd name="adj" fmla="val 10000"/>
            </a:avLst>
          </a:prstGeom>
          <a:solidFill>
            <a:srgbClr val="15294A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0" y="2935224"/>
            <a:ext cx="420624" cy="42062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462272" y="2807208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approves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4462272" y="31546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gate</a:t>
            </a:r>
            <a:endParaRPr lang="en-US" sz="105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4184" y="2990088"/>
            <a:ext cx="310896" cy="310896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6446520" y="2697480"/>
            <a:ext cx="2240280" cy="914400"/>
          </a:xfrm>
          <a:prstGeom prst="roundRect">
            <a:avLst>
              <a:gd name="adj" fmla="val 10000"/>
            </a:avLst>
          </a:prstGeom>
          <a:solidFill>
            <a:srgbClr val="15294A"/>
          </a:solidFill>
          <a:ln/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2935224"/>
            <a:ext cx="420624" cy="420624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7159752" y="2807208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Auto-indexed</a:t>
            </a:r>
            <a:endParaRPr lang="en-US" sz="1400" dirty="0"/>
          </a:p>
        </p:txBody>
      </p:sp>
      <p:sp>
        <p:nvSpPr>
          <p:cNvPr id="20" name="Text 13"/>
          <p:cNvSpPr/>
          <p:nvPr/>
        </p:nvSpPr>
        <p:spPr>
          <a:xfrm>
            <a:off x="7159752" y="31546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· split · embed</a:t>
            </a:r>
            <a:endParaRPr lang="en-US" sz="1050" dirty="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41664" y="2990088"/>
            <a:ext cx="310896" cy="310896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9144000" y="2697480"/>
            <a:ext cx="2240280" cy="914400"/>
          </a:xfrm>
          <a:prstGeom prst="roundRect">
            <a:avLst>
              <a:gd name="adj" fmla="val 10000"/>
            </a:avLst>
          </a:prstGeom>
          <a:solidFill>
            <a:srgbClr val="15294A"/>
          </a:solidFill>
          <a:ln/>
        </p:spPr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26880" y="2935224"/>
            <a:ext cx="420624" cy="420624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9857232" y="2807208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can cite it</a:t>
            </a:r>
            <a:endParaRPr lang="en-US" sz="1400" dirty="0"/>
          </a:p>
        </p:txBody>
      </p:sp>
      <p:sp>
        <p:nvSpPr>
          <p:cNvPr id="25" name="Text 16"/>
          <p:cNvSpPr/>
          <p:nvPr/>
        </p:nvSpPr>
        <p:spPr>
          <a:xfrm>
            <a:off x="9857232" y="31546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Instantly quotable</a:t>
            </a:r>
            <a:endParaRPr lang="en-US" sz="1050" dirty="0"/>
          </a:p>
        </p:txBody>
      </p:sp>
      <p:sp>
        <p:nvSpPr>
          <p:cNvPr id="26" name="Text 17"/>
          <p:cNvSpPr/>
          <p:nvPr/>
        </p:nvSpPr>
        <p:spPr>
          <a:xfrm>
            <a:off x="1051560" y="367588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BEE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or edit it — and it disappears from every answer instantly.</a:t>
            </a:r>
            <a:endParaRPr lang="en-US" sz="1150" dirty="0"/>
          </a:p>
        </p:txBody>
      </p:sp>
      <p:sp>
        <p:nvSpPr>
          <p:cNvPr id="27" name="Shape 18"/>
          <p:cNvSpPr/>
          <p:nvPr/>
        </p:nvSpPr>
        <p:spPr>
          <a:xfrm>
            <a:off x="777240" y="4206240"/>
            <a:ext cx="3392424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28" name="Shape 19"/>
          <p:cNvSpPr/>
          <p:nvPr/>
        </p:nvSpPr>
        <p:spPr>
          <a:xfrm>
            <a:off x="1051560" y="4480560"/>
            <a:ext cx="640080" cy="640080"/>
          </a:xfrm>
          <a:prstGeom prst="ellipse">
            <a:avLst/>
          </a:prstGeom>
          <a:solidFill>
            <a:srgbClr val="F6F8FC"/>
          </a:solidFill>
          <a:ln/>
        </p:spPr>
      </p:sp>
      <p:pic>
        <p:nvPicPr>
          <p:cNvPr id="2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88720" y="4617720"/>
            <a:ext cx="365760" cy="365760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1051560" y="52120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usage monitor</a:t>
            </a:r>
            <a:endParaRPr lang="en-US" sz="1600" dirty="0"/>
          </a:p>
        </p:txBody>
      </p:sp>
      <p:sp>
        <p:nvSpPr>
          <p:cNvPr id="31" name="Text 21"/>
          <p:cNvSpPr/>
          <p:nvPr/>
        </p:nvSpPr>
        <p:spPr>
          <a:xfrm>
            <a:off x="1051560" y="5559552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usage per person; revoke or reinstate access</a:t>
            </a:r>
            <a:endParaRPr lang="en-US" sz="1150" dirty="0"/>
          </a:p>
        </p:txBody>
      </p:sp>
      <p:sp>
        <p:nvSpPr>
          <p:cNvPr id="32" name="Shape 22"/>
          <p:cNvSpPr/>
          <p:nvPr/>
        </p:nvSpPr>
        <p:spPr>
          <a:xfrm>
            <a:off x="4370832" y="4206240"/>
            <a:ext cx="3392424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33" name="Shape 23"/>
          <p:cNvSpPr/>
          <p:nvPr/>
        </p:nvSpPr>
        <p:spPr>
          <a:xfrm>
            <a:off x="4645152" y="4480560"/>
            <a:ext cx="640080" cy="640080"/>
          </a:xfrm>
          <a:prstGeom prst="ellipse">
            <a:avLst/>
          </a:prstGeom>
          <a:solidFill>
            <a:srgbClr val="F6F8FC"/>
          </a:solidFill>
          <a:ln/>
        </p:spPr>
      </p:sp>
      <p:pic>
        <p:nvPicPr>
          <p:cNvPr id="34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82312" y="4617720"/>
            <a:ext cx="365760" cy="365760"/>
          </a:xfrm>
          <a:prstGeom prst="rect">
            <a:avLst/>
          </a:prstGeom>
        </p:spPr>
      </p:pic>
      <p:sp>
        <p:nvSpPr>
          <p:cNvPr id="35" name="Text 24"/>
          <p:cNvSpPr/>
          <p:nvPr/>
        </p:nvSpPr>
        <p:spPr>
          <a:xfrm>
            <a:off x="4645152" y="52120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 analytics</a:t>
            </a:r>
            <a:endParaRPr lang="en-US" sz="1600" dirty="0"/>
          </a:p>
        </p:txBody>
      </p:sp>
      <p:sp>
        <p:nvSpPr>
          <p:cNvPr id="36" name="Text 25"/>
          <p:cNvSpPr/>
          <p:nvPr/>
        </p:nvSpPr>
        <p:spPr>
          <a:xfrm>
            <a:off x="4645152" y="5559552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visibility across every department</a:t>
            </a:r>
            <a:endParaRPr lang="en-US" sz="1150" dirty="0"/>
          </a:p>
        </p:txBody>
      </p:sp>
      <p:sp>
        <p:nvSpPr>
          <p:cNvPr id="37" name="Shape 26"/>
          <p:cNvSpPr/>
          <p:nvPr/>
        </p:nvSpPr>
        <p:spPr>
          <a:xfrm>
            <a:off x="7964424" y="4206240"/>
            <a:ext cx="3392424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38" name="Shape 27"/>
          <p:cNvSpPr/>
          <p:nvPr/>
        </p:nvSpPr>
        <p:spPr>
          <a:xfrm>
            <a:off x="8238744" y="4480560"/>
            <a:ext cx="640080" cy="640080"/>
          </a:xfrm>
          <a:prstGeom prst="ellipse">
            <a:avLst/>
          </a:prstGeom>
          <a:solidFill>
            <a:srgbClr val="F6F8FC"/>
          </a:solidFill>
          <a:ln/>
        </p:spPr>
      </p:sp>
      <p:pic>
        <p:nvPicPr>
          <p:cNvPr id="39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75904" y="4617720"/>
            <a:ext cx="365760" cy="365760"/>
          </a:xfrm>
          <a:prstGeom prst="rect">
            <a:avLst/>
          </a:prstGeom>
        </p:spPr>
      </p:pic>
      <p:sp>
        <p:nvSpPr>
          <p:cNvPr id="40" name="Text 28"/>
          <p:cNvSpPr/>
          <p:nvPr/>
        </p:nvSpPr>
        <p:spPr>
          <a:xfrm>
            <a:off x="8238744" y="52120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system health</a:t>
            </a:r>
            <a:endParaRPr lang="en-US" sz="1600" dirty="0"/>
          </a:p>
        </p:txBody>
      </p:sp>
      <p:sp>
        <p:nvSpPr>
          <p:cNvPr id="41" name="Text 29"/>
          <p:cNvSpPr/>
          <p:nvPr/>
        </p:nvSpPr>
        <p:spPr>
          <a:xfrm>
            <a:off x="8238744" y="5559552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· storage · AI status at a glance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548640"/>
            <a:ext cx="1693469" cy="310896"/>
          </a:xfrm>
          <a:prstGeom prst="roundRect">
            <a:avLst>
              <a:gd name="adj" fmla="val 50000"/>
            </a:avLst>
          </a:prstGeom>
          <a:solidFill>
            <a:srgbClr val="0E9C8B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48640"/>
            <a:ext cx="169346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INTEGRITY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1338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13223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Real exam integrity, in the browser.</a:t>
            </a:r>
            <a:endParaRPr lang="en-US" sz="3500" dirty="0"/>
          </a:p>
        </p:txBody>
      </p:sp>
      <p:sp>
        <p:nvSpPr>
          <p:cNvPr id="5" name="Text 3"/>
          <p:cNvSpPr/>
          <p:nvPr/>
        </p:nvSpPr>
        <p:spPr>
          <a:xfrm>
            <a:off x="777240" y="178308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tests run fullscreen and server-authoritative — the client is never trusted.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77240" y="2468880"/>
            <a:ext cx="5065776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69848" y="2788920"/>
            <a:ext cx="777240" cy="777240"/>
          </a:xfrm>
          <a:prstGeom prst="ellipse">
            <a:avLst/>
          </a:prstGeom>
          <a:solidFill>
            <a:srgbClr val="F6F8FC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2953512"/>
            <a:ext cx="448056" cy="4480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057400" y="274320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Fullscreen enforced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2057400" y="3182112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Leaving fullscreen or switching tabs is detected and recorded as a warning.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208776" y="2468880"/>
            <a:ext cx="5065776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501384" y="2788920"/>
            <a:ext cx="777240" cy="777240"/>
          </a:xfrm>
          <a:prstGeom prst="ellipse">
            <a:avLst/>
          </a:prstGeom>
          <a:solidFill>
            <a:srgbClr val="F6F8FC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5976" y="2953512"/>
            <a:ext cx="448056" cy="44805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488936" y="274320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Auto-disqualify</a:t>
            </a:r>
            <a:endParaRPr lang="en-US" sz="1900" dirty="0"/>
          </a:p>
        </p:txBody>
      </p:sp>
      <p:sp>
        <p:nvSpPr>
          <p:cNvPr id="15" name="Text 11"/>
          <p:cNvSpPr/>
          <p:nvPr/>
        </p:nvSpPr>
        <p:spPr>
          <a:xfrm>
            <a:off x="7488936" y="3182112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many proctoring violations end the attempt automatically.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777240" y="4251960"/>
            <a:ext cx="5065776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1069848" y="4572000"/>
            <a:ext cx="777240" cy="777240"/>
          </a:xfrm>
          <a:prstGeom prst="ellipse">
            <a:avLst/>
          </a:prstGeom>
          <a:solidFill>
            <a:srgbClr val="F6F8FC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" y="4736592"/>
            <a:ext cx="448056" cy="44805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2057400" y="452628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Tamper-proof timer</a:t>
            </a:r>
            <a:endParaRPr lang="en-US" sz="1900" dirty="0"/>
          </a:p>
        </p:txBody>
      </p:sp>
      <p:sp>
        <p:nvSpPr>
          <p:cNvPr id="20" name="Text 15"/>
          <p:cNvSpPr/>
          <p:nvPr/>
        </p:nvSpPr>
        <p:spPr>
          <a:xfrm>
            <a:off x="2057400" y="4965192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Per-student countdown starts on launch; an attempt can't be restarted for extra time.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6208776" y="4251960"/>
            <a:ext cx="5065776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501384" y="4572000"/>
            <a:ext cx="777240" cy="777240"/>
          </a:xfrm>
          <a:prstGeom prst="ellipse">
            <a:avLst/>
          </a:prstGeom>
          <a:solidFill>
            <a:srgbClr val="F6F8FC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5976" y="4736592"/>
            <a:ext cx="448056" cy="44805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488936" y="452628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Server-authoritative</a:t>
            </a:r>
            <a:endParaRPr lang="en-US" sz="1900" dirty="0"/>
          </a:p>
        </p:txBody>
      </p:sp>
      <p:sp>
        <p:nvSpPr>
          <p:cNvPr id="25" name="Text 19"/>
          <p:cNvSpPr/>
          <p:nvPr/>
        </p:nvSpPr>
        <p:spPr>
          <a:xfrm>
            <a:off x="7488936" y="4965192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answers never reach the browser; grading happens on the server, instantly.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548640"/>
            <a:ext cx="2187245" cy="310896"/>
          </a:xfrm>
          <a:prstGeom prst="roundRect">
            <a:avLst>
              <a:gd name="adj" fmla="val 50000"/>
            </a:avLst>
          </a:prstGeom>
          <a:solidFill>
            <a:srgbClr val="0E9C8B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48640"/>
            <a:ext cx="218724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REAL-TIME, HONESTLY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1338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Live messaging — built to run anywhere.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77240" y="178308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3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and the faculty they share a class with chat live — with an honest path to scale.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77240" y="2468880"/>
            <a:ext cx="3392424" cy="3474720"/>
          </a:xfrm>
          <a:prstGeom prst="roundRect">
            <a:avLst>
              <a:gd name="adj" fmla="val 3774"/>
            </a:avLst>
          </a:prstGeom>
          <a:solidFill>
            <a:srgbClr val="15294A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011680" y="2788920"/>
            <a:ext cx="914400" cy="914400"/>
          </a:xfrm>
          <a:prstGeom prst="ellipse">
            <a:avLst/>
          </a:prstGeom>
          <a:solidFill>
            <a:srgbClr val="103038"/>
          </a:solidFill>
          <a:ln w="12700">
            <a:solidFill>
              <a:srgbClr val="17C3AC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40280" y="301752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51560" y="3886200"/>
            <a:ext cx="28437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1:1 chat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097280" y="4434840"/>
            <a:ext cx="275234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3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Gated to people who share a section — presence, typing &amp; last-seen indicators.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370832" y="2468880"/>
            <a:ext cx="3392424" cy="3474720"/>
          </a:xfrm>
          <a:prstGeom prst="roundRect">
            <a:avLst>
              <a:gd name="adj" fmla="val 3774"/>
            </a:avLst>
          </a:prstGeom>
          <a:solidFill>
            <a:srgbClr val="15294A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605272" y="2788920"/>
            <a:ext cx="914400" cy="914400"/>
          </a:xfrm>
          <a:prstGeom prst="ellipse">
            <a:avLst/>
          </a:prstGeom>
          <a:solidFill>
            <a:srgbClr val="103038"/>
          </a:solidFill>
          <a:ln w="12700">
            <a:solidFill>
              <a:srgbClr val="17C3AC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3872" y="301752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45152" y="3886200"/>
            <a:ext cx="28437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by design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4690872" y="4434840"/>
            <a:ext cx="275234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3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 to the database first, then broadcast; polling fallback means nothing is ever lost.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7964424" y="2468880"/>
            <a:ext cx="3392424" cy="3474720"/>
          </a:xfrm>
          <a:prstGeom prst="roundRect">
            <a:avLst>
              <a:gd name="adj" fmla="val 3774"/>
            </a:avLst>
          </a:prstGeom>
          <a:solidFill>
            <a:srgbClr val="15294A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9198864" y="2788920"/>
            <a:ext cx="914400" cy="914400"/>
          </a:xfrm>
          <a:prstGeom prst="ellipse">
            <a:avLst/>
          </a:prstGeom>
          <a:solidFill>
            <a:srgbClr val="103038"/>
          </a:solidFill>
          <a:ln w="12700">
            <a:solidFill>
              <a:srgbClr val="17C3AC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7464" y="3017520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238744" y="3886200"/>
            <a:ext cx="28437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path to scale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8284464" y="4434840"/>
            <a:ext cx="275234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3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Ships on a hosted broadcaster today; self-host Laravel Reverb on a VPS — same client, swap the broadcaster.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731520" y="614476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BEE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 the constraint and the upgrade path is a maturity signal — judges reward honesty over hand-waving.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548640"/>
            <a:ext cx="1495958" cy="310896"/>
          </a:xfrm>
          <a:prstGeom prst="roundRect">
            <a:avLst>
              <a:gd name="adj" fmla="val 50000"/>
            </a:avLst>
          </a:prstGeom>
          <a:solidFill>
            <a:srgbClr val="0E9C8B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48640"/>
            <a:ext cx="149595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Lean. Production-ready.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777240" y="1965960"/>
            <a:ext cx="7680960" cy="877824"/>
          </a:xfrm>
          <a:prstGeom prst="roundRect">
            <a:avLst>
              <a:gd name="adj" fmla="val 12500"/>
            </a:avLst>
          </a:prstGeom>
          <a:solidFill>
            <a:srgbClr val="15294A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05840" y="2148840"/>
            <a:ext cx="512064" cy="512064"/>
          </a:xfrm>
          <a:prstGeom prst="ellipse">
            <a:avLst/>
          </a:prstGeom>
          <a:solidFill>
            <a:srgbClr val="103038"/>
          </a:solidFill>
          <a:ln w="12700">
            <a:solidFill>
              <a:srgbClr val="17C3AC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" y="2258568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2075688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  </a:t>
            </a:r>
            <a:pPr indent="0" marL="0">
              <a:buNone/>
            </a:pPr>
            <a:r>
              <a:rPr lang="en-US" sz="1300" dirty="0">
                <a:solidFill>
                  <a:srgbClr val="17C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3 · Inertia.js · Tailwind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691640" y="2441448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role-differentiated UI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77240" y="2990088"/>
            <a:ext cx="7680960" cy="877824"/>
          </a:xfrm>
          <a:prstGeom prst="roundRect">
            <a:avLst>
              <a:gd name="adj" fmla="val 12500"/>
            </a:avLst>
          </a:prstGeom>
          <a:solidFill>
            <a:srgbClr val="15294A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1005840" y="3172968"/>
            <a:ext cx="512064" cy="512064"/>
          </a:xfrm>
          <a:prstGeom prst="ellipse">
            <a:avLst/>
          </a:prstGeom>
          <a:solidFill>
            <a:srgbClr val="103038"/>
          </a:solidFill>
          <a:ln w="12700">
            <a:solidFill>
              <a:srgbClr val="17C3AC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3282696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91640" y="3099816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  </a:t>
            </a:r>
            <a:pPr indent="0" marL="0">
              <a:buNone/>
            </a:pPr>
            <a:r>
              <a:rPr lang="en-US" sz="1300" dirty="0">
                <a:solidFill>
                  <a:srgbClr val="17C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 11 (PHP)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1691640" y="3465576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role-based REST APIs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777240" y="4014216"/>
            <a:ext cx="7680960" cy="877824"/>
          </a:xfrm>
          <a:prstGeom prst="roundRect">
            <a:avLst>
              <a:gd name="adj" fmla="val 12500"/>
            </a:avLst>
          </a:prstGeom>
          <a:solidFill>
            <a:srgbClr val="15294A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1005840" y="4197096"/>
            <a:ext cx="512064" cy="512064"/>
          </a:xfrm>
          <a:prstGeom prst="ellipse">
            <a:avLst/>
          </a:prstGeom>
          <a:solidFill>
            <a:srgbClr val="103038"/>
          </a:solidFill>
          <a:ln w="12700">
            <a:solidFill>
              <a:srgbClr val="17C3AC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4306824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91640" y="4123944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+ Vector Search   </a:t>
            </a:r>
            <a:pPr indent="0" marL="0">
              <a:buNone/>
            </a:pPr>
            <a:r>
              <a:rPr lang="en-US" sz="1300" dirty="0">
                <a:solidFill>
                  <a:srgbClr val="17C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1691640" y="4489704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data AND embeddings — native cosine, no vector DB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777240" y="5038344"/>
            <a:ext cx="7680960" cy="877824"/>
          </a:xfrm>
          <a:prstGeom prst="roundRect">
            <a:avLst>
              <a:gd name="adj" fmla="val 12500"/>
            </a:avLst>
          </a:prstGeom>
          <a:solidFill>
            <a:srgbClr val="15294A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1005840" y="5221224"/>
            <a:ext cx="512064" cy="512064"/>
          </a:xfrm>
          <a:prstGeom prst="ellipse">
            <a:avLst/>
          </a:prstGeom>
          <a:solidFill>
            <a:srgbClr val="103038"/>
          </a:solidFill>
          <a:ln w="12700">
            <a:solidFill>
              <a:srgbClr val="17C3AC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330952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691640" y="5148072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Layer   </a:t>
            </a:r>
            <a:pPr indent="0" marL="0">
              <a:buNone/>
            </a:pPr>
            <a:r>
              <a:rPr lang="en-US" sz="1300" dirty="0">
                <a:solidFill>
                  <a:srgbClr val="17C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(default)  /  OpenAI (drop-in key)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1691640" y="5513832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Pluggable providers behind one interface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8732520" y="1965960"/>
            <a:ext cx="2697480" cy="4032504"/>
          </a:xfrm>
          <a:prstGeom prst="roundRect">
            <a:avLst>
              <a:gd name="adj" fmla="val 4746"/>
            </a:avLst>
          </a:prstGeom>
          <a:solidFill>
            <a:srgbClr val="103038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5520" y="2331720"/>
            <a:ext cx="502920" cy="5029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8961120" y="301752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search runs natively in MySQL</a:t>
            </a:r>
            <a:endParaRPr lang="en-US" sz="1700" dirty="0"/>
          </a:p>
        </p:txBody>
      </p:sp>
      <p:sp>
        <p:nvSpPr>
          <p:cNvPr id="28" name="Text 21"/>
          <p:cNvSpPr/>
          <p:nvPr/>
        </p:nvSpPr>
        <p:spPr>
          <a:xfrm>
            <a:off x="8961120" y="393192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EE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separate search engine to deploy, run, or pay for.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8915400" y="507492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3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smart decision that keeps the whole platform lean enough for one person to ship.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548640"/>
            <a:ext cx="1298448" cy="310896"/>
          </a:xfrm>
          <a:prstGeom prst="roundRect">
            <a:avLst>
              <a:gd name="adj" fmla="val 50000"/>
            </a:avLst>
          </a:prstGeom>
          <a:solidFill>
            <a:srgbClr val="0E9C8B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48640"/>
            <a:ext cx="12984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LOCK-IN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Swap the brain, keep the platform.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77240" y="178308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3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logic lives behind one interface — demo today, production tomorrow.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77240" y="2331720"/>
            <a:ext cx="5029200" cy="3200400"/>
          </a:xfrm>
          <a:prstGeom prst="roundRect">
            <a:avLst>
              <a:gd name="adj" fmla="val 4000"/>
            </a:avLst>
          </a:prstGeom>
          <a:solidFill>
            <a:srgbClr val="103038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697480" y="2651760"/>
            <a:ext cx="1188720" cy="1188720"/>
          </a:xfrm>
          <a:prstGeom prst="ellipse">
            <a:avLst/>
          </a:prstGeom>
          <a:solidFill>
            <a:srgbClr val="15294A"/>
          </a:solidFill>
          <a:ln w="19050">
            <a:solidFill>
              <a:srgbClr val="17C3AC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81528" y="3035808"/>
            <a:ext cx="420624" cy="42062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39776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spc="100" kern="0" dirty="0">
                <a:solidFill>
                  <a:srgbClr val="17C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PROVIDER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051560" y="438912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— needs NO API key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51560" y="4864608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EE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chat + quiz generation, zero cost to demo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382512" y="2331720"/>
            <a:ext cx="5029200" cy="3200400"/>
          </a:xfrm>
          <a:prstGeom prst="roundRect">
            <a:avLst>
              <a:gd name="adj" fmla="val 4000"/>
            </a:avLst>
          </a:prstGeom>
          <a:solidFill>
            <a:srgbClr val="15294A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8302752" y="2651760"/>
            <a:ext cx="1188720" cy="1188720"/>
          </a:xfrm>
          <a:prstGeom prst="ellipse">
            <a:avLst/>
          </a:prstGeom>
          <a:solidFill>
            <a:srgbClr val="103038"/>
          </a:solidFill>
          <a:ln w="19050">
            <a:solidFill>
              <a:srgbClr val="17C3AC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3035808"/>
            <a:ext cx="420624" cy="42062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382512" y="39776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PROVIDER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6656832" y="438912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7C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in a key for production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6656832" y="4864608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3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contract — Gemini or local LLMs slot in next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2377440" y="5806440"/>
            <a:ext cx="7434072" cy="640080"/>
          </a:xfrm>
          <a:prstGeom prst="roundRect">
            <a:avLst>
              <a:gd name="adj" fmla="val 20000"/>
            </a:avLst>
          </a:prstGeom>
          <a:solidFill>
            <a:srgbClr val="103038"/>
          </a:solidFill>
          <a:ln/>
        </p:spPr>
      </p:sp>
      <p:sp>
        <p:nvSpPr>
          <p:cNvPr id="19" name="Text 15"/>
          <p:cNvSpPr/>
          <p:nvPr/>
        </p:nvSpPr>
        <p:spPr>
          <a:xfrm>
            <a:off x="2377440" y="5806440"/>
            <a:ext cx="74340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7C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external AI dependencies:  </a:t>
            </a:r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product demos with no keys, no setup.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548640"/>
            <a:ext cx="2384755" cy="310896"/>
          </a:xfrm>
          <a:prstGeom prst="roundRect">
            <a:avLst>
              <a:gd name="adj" fmla="val 50000"/>
            </a:avLst>
          </a:prstGeom>
          <a:solidFill>
            <a:srgbClr val="0E9C8B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48640"/>
            <a:ext cx="238475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JUST CHATGPT?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3223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Three reasons nobody else has.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160520" y="2011680"/>
            <a:ext cx="3611880" cy="640080"/>
          </a:xfrm>
          <a:prstGeom prst="roundRect">
            <a:avLst>
              <a:gd name="adj" fmla="val 14286"/>
            </a:avLst>
          </a:prstGeom>
          <a:solidFill>
            <a:srgbClr val="E4EAF1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60520" y="2011680"/>
            <a:ext cx="3611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ChatGPT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909560" y="2011680"/>
            <a:ext cx="3502152" cy="640080"/>
          </a:xfrm>
          <a:prstGeom prst="roundRect">
            <a:avLst>
              <a:gd name="adj" fmla="val 14286"/>
            </a:avLst>
          </a:prstGeom>
          <a:solidFill>
            <a:srgbClr val="0B1A2E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909560" y="2011680"/>
            <a:ext cx="3502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C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UniGPT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77240" y="278892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of answers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160520" y="2788920"/>
            <a:ext cx="361188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70832" y="3081528"/>
            <a:ext cx="329184" cy="32918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846320" y="2788920"/>
            <a:ext cx="2788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open internet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7909560" y="2788920"/>
            <a:ext cx="3502152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3081528"/>
            <a:ext cx="329184" cy="32918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8613648" y="2788920"/>
            <a:ext cx="2697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approved documents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777240" y="384048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Citations</a:t>
            </a:r>
            <a:endParaRPr lang="en-US" sz="1700" dirty="0"/>
          </a:p>
        </p:txBody>
      </p:sp>
      <p:sp>
        <p:nvSpPr>
          <p:cNvPr id="17" name="Shape 13"/>
          <p:cNvSpPr/>
          <p:nvPr/>
        </p:nvSpPr>
        <p:spPr>
          <a:xfrm>
            <a:off x="4160520" y="3840480"/>
            <a:ext cx="361188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0832" y="4133088"/>
            <a:ext cx="329184" cy="32918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846320" y="3840480"/>
            <a:ext cx="2788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350" dirty="0"/>
          </a:p>
        </p:txBody>
      </p:sp>
      <p:sp>
        <p:nvSpPr>
          <p:cNvPr id="20" name="Shape 15"/>
          <p:cNvSpPr/>
          <p:nvPr/>
        </p:nvSpPr>
        <p:spPr>
          <a:xfrm>
            <a:off x="7909560" y="3840480"/>
            <a:ext cx="3502152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4133088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613648" y="3840480"/>
            <a:ext cx="2697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· page · confidence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777240" y="489204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</a:t>
            </a:r>
            <a:endParaRPr lang="en-US" sz="1700" dirty="0"/>
          </a:p>
        </p:txBody>
      </p:sp>
      <p:sp>
        <p:nvSpPr>
          <p:cNvPr id="24" name="Shape 18"/>
          <p:cNvSpPr/>
          <p:nvPr/>
        </p:nvSpPr>
        <p:spPr>
          <a:xfrm>
            <a:off x="4160520" y="4892040"/>
            <a:ext cx="361188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0832" y="5184648"/>
            <a:ext cx="329184" cy="32918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846320" y="4892040"/>
            <a:ext cx="2788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350" dirty="0"/>
          </a:p>
        </p:txBody>
      </p:sp>
      <p:sp>
        <p:nvSpPr>
          <p:cNvPr id="27" name="Shape 20"/>
          <p:cNvSpPr/>
          <p:nvPr/>
        </p:nvSpPr>
        <p:spPr>
          <a:xfrm>
            <a:off x="7909560" y="4892040"/>
            <a:ext cx="3502152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38160" y="5184648"/>
            <a:ext cx="329184" cy="329184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8613648" y="4892040"/>
            <a:ext cx="2697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Role-aware — you see only what you may</a:t>
            </a:r>
            <a:endParaRPr lang="en-US" sz="1350" dirty="0"/>
          </a:p>
        </p:txBody>
      </p:sp>
      <p:sp>
        <p:nvSpPr>
          <p:cNvPr id="30" name="Text 22"/>
          <p:cNvSpPr/>
          <p:nvPr/>
        </p:nvSpPr>
        <p:spPr>
          <a:xfrm>
            <a:off x="731520" y="6172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0E9C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not a chatbot. That's institutional infrastructure.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548640"/>
            <a:ext cx="1693469" cy="310896"/>
          </a:xfrm>
          <a:prstGeom prst="roundRect">
            <a:avLst>
              <a:gd name="adj" fmla="val 50000"/>
            </a:avLst>
          </a:prstGeom>
          <a:solidFill>
            <a:srgbClr val="0E9C8B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48640"/>
            <a:ext cx="169346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NUMBERS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3223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 mature, demonstrable MVP.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77240" y="2286000"/>
            <a:ext cx="2551176" cy="3566160"/>
          </a:xfrm>
          <a:prstGeom prst="roundRect">
            <a:avLst>
              <a:gd name="adj" fmla="val 430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2697480"/>
            <a:ext cx="236829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0E9C8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960120" y="3931920"/>
            <a:ext cx="21854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dashboards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4617720"/>
            <a:ext cx="209397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· Faculty · Admin — one login, tailored per role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511296" y="2286000"/>
            <a:ext cx="2551176" cy="3566160"/>
          </a:xfrm>
          <a:prstGeom prst="roundRect">
            <a:avLst>
              <a:gd name="adj" fmla="val 430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02736" y="2697480"/>
            <a:ext cx="236829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0E9C8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40+</a:t>
            </a:r>
            <a:endParaRPr lang="en-US" sz="6400" dirty="0"/>
          </a:p>
        </p:txBody>
      </p:sp>
      <p:sp>
        <p:nvSpPr>
          <p:cNvPr id="11" name="Text 9"/>
          <p:cNvSpPr/>
          <p:nvPr/>
        </p:nvSpPr>
        <p:spPr>
          <a:xfrm>
            <a:off x="3694176" y="3931920"/>
            <a:ext cx="21854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Fine-grained permissions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739896" y="4617720"/>
            <a:ext cx="209397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route guarded, every action audited, roles can expire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45352" y="2286000"/>
            <a:ext cx="2551176" cy="3566160"/>
          </a:xfrm>
          <a:prstGeom prst="roundRect">
            <a:avLst>
              <a:gd name="adj" fmla="val 430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36792" y="2697480"/>
            <a:ext cx="236829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E9C8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100%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6428232" y="3931920"/>
            <a:ext cx="21854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workflows wired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73952" y="4617720"/>
            <a:ext cx="209397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 · quiz · proctor · grade · report — end to end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979408" y="2286000"/>
            <a:ext cx="2551176" cy="3566160"/>
          </a:xfrm>
          <a:prstGeom prst="roundRect">
            <a:avLst>
              <a:gd name="adj" fmla="val 430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070848" y="2697480"/>
            <a:ext cx="236829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0E9C8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</a:t>
            </a:r>
            <a:endParaRPr lang="en-US" sz="6400" dirty="0"/>
          </a:p>
        </p:txBody>
      </p:sp>
      <p:sp>
        <p:nvSpPr>
          <p:cNvPr id="19" name="Text 17"/>
          <p:cNvSpPr/>
          <p:nvPr/>
        </p:nvSpPr>
        <p:spPr>
          <a:xfrm>
            <a:off x="9162288" y="3931920"/>
            <a:ext cx="21854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AI dependencies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208008" y="4617720"/>
            <a:ext cx="209397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vector DB, no LLM SDK — runs in-house, demos with no keys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1520" y="614476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slideware concept — a working platform you can demo on any laptop, with no setup.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548640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0E9C8B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48640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FEASIBILITY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Not a concept. Already built.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77240" y="2148840"/>
            <a:ext cx="3392424" cy="3749040"/>
          </a:xfrm>
          <a:prstGeom prst="roundRect">
            <a:avLst>
              <a:gd name="adj" fmla="val 3774"/>
            </a:avLst>
          </a:prstGeom>
          <a:solidFill>
            <a:srgbClr val="15294A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011680" y="2468880"/>
            <a:ext cx="914400" cy="914400"/>
          </a:xfrm>
          <a:prstGeom prst="ellipse">
            <a:avLst/>
          </a:prstGeom>
          <a:solidFill>
            <a:srgbClr val="103038"/>
          </a:solidFill>
          <a:ln w="12700">
            <a:solidFill>
              <a:srgbClr val="17C3AC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40280" y="269748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3520440"/>
            <a:ext cx="320954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7C3A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LIVE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1005840" y="4343400"/>
            <a:ext cx="29352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already built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051560" y="484632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Dual-mode AI · approvals · proctored quizzes · messaging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370832" y="2148840"/>
            <a:ext cx="3392424" cy="3749040"/>
          </a:xfrm>
          <a:prstGeom prst="roundRect">
            <a:avLst>
              <a:gd name="adj" fmla="val 3774"/>
            </a:avLst>
          </a:prstGeom>
          <a:solidFill>
            <a:srgbClr val="15294A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605272" y="2468880"/>
            <a:ext cx="914400" cy="914400"/>
          </a:xfrm>
          <a:prstGeom prst="ellipse">
            <a:avLst/>
          </a:prstGeom>
          <a:solidFill>
            <a:srgbClr val="103038"/>
          </a:solidFill>
          <a:ln w="12700">
            <a:solidFill>
              <a:srgbClr val="17C3AC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3872" y="269748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462272" y="3520440"/>
            <a:ext cx="320954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7C3A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1000s</a:t>
            </a:r>
            <a:endParaRPr lang="en-US" sz="3800" dirty="0"/>
          </a:p>
        </p:txBody>
      </p:sp>
      <p:sp>
        <p:nvSpPr>
          <p:cNvPr id="15" name="Text 11"/>
          <p:cNvSpPr/>
          <p:nvPr/>
        </p:nvSpPr>
        <p:spPr>
          <a:xfrm>
            <a:off x="4599432" y="4343400"/>
            <a:ext cx="29352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scale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4645152" y="484632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Students, faculty, departments &amp; documents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7964424" y="2148840"/>
            <a:ext cx="3392424" cy="3749040"/>
          </a:xfrm>
          <a:prstGeom prst="roundRect">
            <a:avLst>
              <a:gd name="adj" fmla="val 3774"/>
            </a:avLst>
          </a:prstGeom>
          <a:solidFill>
            <a:srgbClr val="15294A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9198864" y="2468880"/>
            <a:ext cx="914400" cy="914400"/>
          </a:xfrm>
          <a:prstGeom prst="ellipse">
            <a:avLst/>
          </a:prstGeom>
          <a:solidFill>
            <a:srgbClr val="103038"/>
          </a:solidFill>
          <a:ln w="12700">
            <a:solidFill>
              <a:srgbClr val="17C3AC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7464" y="2697480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055864" y="3520440"/>
            <a:ext cx="320954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7C3A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Equity</a:t>
            </a:r>
            <a:endParaRPr lang="en-US" sz="3800" dirty="0"/>
          </a:p>
        </p:txBody>
      </p:sp>
      <p:sp>
        <p:nvSpPr>
          <p:cNvPr id="21" name="Text 16"/>
          <p:cNvSpPr/>
          <p:nvPr/>
        </p:nvSpPr>
        <p:spPr>
          <a:xfrm>
            <a:off x="8193024" y="4343400"/>
            <a:ext cx="29352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Bigger than one campus</a:t>
            </a:r>
            <a:endParaRPr lang="en-US" sz="1700" dirty="0"/>
          </a:p>
        </p:txBody>
      </p:sp>
      <p:sp>
        <p:nvSpPr>
          <p:cNvPr id="22" name="Text 17"/>
          <p:cNvSpPr/>
          <p:nvPr/>
        </p:nvSpPr>
        <p:spPr>
          <a:xfrm>
            <a:off x="8238744" y="484632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instant for every student, any university size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731520" y="614476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BEE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Bangladesh, universities struggle with exactly this fragmentation — UniGPT raises both quality and equity of education.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548640"/>
            <a:ext cx="1890979" cy="310896"/>
          </a:xfrm>
          <a:prstGeom prst="roundRect">
            <a:avLst>
              <a:gd name="adj" fmla="val 50000"/>
            </a:avLst>
          </a:prstGeom>
          <a:solidFill>
            <a:srgbClr val="0E9C8B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48640"/>
            <a:ext cx="189097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&amp; VISION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3223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Where it goes next.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2194560" y="3429000"/>
            <a:ext cx="7498080" cy="0"/>
          </a:xfrm>
          <a:prstGeom prst="line">
            <a:avLst/>
          </a:prstGeom>
          <a:noFill/>
          <a:ln w="25400">
            <a:solidFill>
              <a:srgbClr val="0E9C8B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94560" y="3200400"/>
            <a:ext cx="457200" cy="457200"/>
          </a:xfrm>
          <a:prstGeom prst="ellipse">
            <a:avLst/>
          </a:prstGeom>
          <a:solidFill>
            <a:srgbClr val="0E9C8B"/>
          </a:solidFill>
          <a:ln w="38100">
            <a:solidFill>
              <a:srgbClr val="F6F8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3794760"/>
            <a:ext cx="3392424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51560" y="4069080"/>
            <a:ext cx="685800" cy="685800"/>
          </a:xfrm>
          <a:prstGeom prst="ellipse">
            <a:avLst/>
          </a:prstGeom>
          <a:solidFill>
            <a:srgbClr val="F6F8FC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7864" y="4215384"/>
            <a:ext cx="393192" cy="39319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874520" y="41148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E9C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51560" y="489204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platform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051560" y="5321808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portals, dual-mode AI, proctored quizzes — working today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815584" y="3200400"/>
            <a:ext cx="457200" cy="457200"/>
          </a:xfrm>
          <a:prstGeom prst="ellipse">
            <a:avLst/>
          </a:prstGeom>
          <a:solidFill>
            <a:srgbClr val="0E9C8B"/>
          </a:solidFill>
          <a:ln w="38100">
            <a:solidFill>
              <a:srgbClr val="F6F8F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398264" y="3794760"/>
            <a:ext cx="3392424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672584" y="4069080"/>
            <a:ext cx="685800" cy="685800"/>
          </a:xfrm>
          <a:prstGeom prst="ellipse">
            <a:avLst/>
          </a:prstGeom>
          <a:solidFill>
            <a:srgbClr val="F6F8FC"/>
          </a:solidFill>
          <a:ln/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8888" y="4215384"/>
            <a:ext cx="393192" cy="39319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495544" y="41148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E9C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4672584" y="489204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&amp; insight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4672584" y="5321808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&amp; Telegram delivery · predictive analytics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9436608" y="3200400"/>
            <a:ext cx="457200" cy="457200"/>
          </a:xfrm>
          <a:prstGeom prst="ellipse">
            <a:avLst/>
          </a:prstGeom>
          <a:solidFill>
            <a:srgbClr val="0E9C8B"/>
          </a:solidFill>
          <a:ln w="38100">
            <a:solidFill>
              <a:srgbClr val="F6F8FC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8019288" y="3794760"/>
            <a:ext cx="3392424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8293608" y="4069080"/>
            <a:ext cx="685800" cy="685800"/>
          </a:xfrm>
          <a:prstGeom prst="ellipse">
            <a:avLst/>
          </a:prstGeom>
          <a:solidFill>
            <a:srgbClr val="F6F8FC"/>
          </a:solidFill>
          <a:ln/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9912" y="4215384"/>
            <a:ext cx="393192" cy="393192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9116568" y="41148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E9C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8293608" y="489204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ecosystem</a:t>
            </a:r>
            <a:endParaRPr lang="en-US" sz="1800" dirty="0"/>
          </a:p>
        </p:txBody>
      </p:sp>
      <p:sp>
        <p:nvSpPr>
          <p:cNvPr id="26" name="Text 21"/>
          <p:cNvSpPr/>
          <p:nvPr/>
        </p:nvSpPr>
        <p:spPr>
          <a:xfrm>
            <a:off x="8293608" y="5321808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AI · digital library · multi-institution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731520" y="619963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vision: universities as AI-driven ecosystems — knowledge instant, friction gone, teachers back to teaching.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3474720"/>
            <a:ext cx="5029200" cy="5029200"/>
          </a:xfrm>
          <a:prstGeom prst="ellipse">
            <a:avLst/>
          </a:prstGeom>
          <a:solidFill>
            <a:srgbClr val="0E9C8B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-1645920"/>
            <a:ext cx="4572000" cy="4572000"/>
          </a:xfrm>
          <a:prstGeom prst="ellipse">
            <a:avLst/>
          </a:prstGeom>
          <a:solidFill>
            <a:srgbClr val="0E9C8B">
              <a:alpha val="18000"/>
            </a:srgbClr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37276" y="141732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2468880"/>
            <a:ext cx="103601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UniGPT</a:t>
            </a:r>
            <a:endParaRPr lang="en-US" sz="6400" dirty="0"/>
          </a:p>
        </p:txBody>
      </p:sp>
      <p:sp>
        <p:nvSpPr>
          <p:cNvPr id="6" name="Text 3"/>
          <p:cNvSpPr/>
          <p:nvPr/>
        </p:nvSpPr>
        <p:spPr>
          <a:xfrm>
            <a:off x="914400" y="361188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7C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university's knowledge — instant, grounded, and provable.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914400" y="434340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93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platform.   </a:t>
            </a:r>
            <a:pPr algn="ctr" indent="0" marL="0">
              <a:buNone/>
            </a:pPr>
            <a:r>
              <a:rPr lang="en-US" sz="1700" dirty="0">
                <a:solidFill>
                  <a:srgbClr val="BEE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AI.   </a:t>
            </a:r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answer, provable.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14400" y="589788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Mohammad Shariya</a:t>
            </a:r>
            <a:pPr algn="ctr" indent="0" marL="0">
              <a:buNone/>
            </a:pPr>
            <a:r>
              <a:rPr lang="en-US" sz="1400" dirty="0">
                <a:solidFill>
                  <a:srgbClr val="93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Northern University Bangladesh   ·   shariya873@gmail.com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UniGPT — An AI Academic Copilot</dc:title>
  <dc:subject>PptxGenJS Presentation</dc:subject>
  <dc:creator>Mohammad Shariya</dc:creator>
  <cp:lastModifiedBy>Mohammad Shariya</cp:lastModifiedBy>
  <cp:revision>1</cp:revision>
  <dcterms:created xsi:type="dcterms:W3CDTF">2026-06-26T19:10:24Z</dcterms:created>
  <dcterms:modified xsi:type="dcterms:W3CDTF">2026-06-26T19:10:24Z</dcterms:modified>
</cp:coreProperties>
</file>