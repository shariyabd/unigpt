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— Micro-story. Slow + quiet. Deliver the Tuesday story, 2-sec pauses, look at judges. Then: 'My name is Mohammad Shariya, third-year CSE at NUB — and this is UniGPT.'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Let it breathe 2s. Slow, drop pitch on the name. One platform that unifies everything; AI that answers from the university's own approved documents and shows where every answer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student's life across 6 disconnected tools. Notice the tangle. Bridge to faculty: 'turn the camera around.'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faculty repetition + admin blindness. Bridge: 'So I built one [single brain].'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— the chaos becomes one hub, three role doors. Bridge: 'the structure isn't the innovation — THIS is.'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INNOVATION — slowest delivery. RAG = no hallucination, cites doc+page+confidence. Bridge: that engine powers a feature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STUDENTS — copilot. Cited answers in seconds, modes, live grades, no office queues. Bridge to faculty.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FACULTY — drafts quizzes/assignments, suggests feedback, one-tap attendance, at-risk alerts DURING the semester. Bridge to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ADMIN — governance: doc is quotable only after approval; reject removes it instantly. Usage monitor, analytics, system health. Nothing is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PROCTORED INTEGRITY — fullscreen enforced, auto-disqualify, tamper-proof per-student timer, server-authoritative grading (client answers never trusted). This is a security-engineering flex; deliver it with confidence. Bridge: and students and faculty stay connected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REAL-TIME, HONESTLY — live chat gated to shared sections; DB-first then broadcast with polling fallback; honest trade-off — hosted broadcaster now, self-host Reverb on a VPS to scale, same client. Engineering judges reward this honesty. Bridge: so how does the whole thing run?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— for technical judges. Laravel 11 + Vue 3 + MySQL 8 (data AND embeddings, native cosine) + pluggable AI. Key: vector search inside the DB, zero external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LOCK-IN — pluggable providers behind one interface. Mock by default (zero keys, full demo), OpenAI drops in for production, Gemini/local LLMs slot into the same contract. Bridge: why not just use ChatGPT?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 — count three on fingers: source, citations, permissions. Permission-aware is the knockout. Bridge to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— 3 dashboards, 40+ permissions, 100% core workflows wired, 0 external AI dependencies. Big numbers land with judges. The '0' is the punchline — it demos anywhere. Bridge: and it's not a concept — it's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— already built (production-ready), scales to thousands, equity impact across Bangladesh. Don't invent metrics. Bridge to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— now → next → vision. End energized then drop pitch on the vision line. Bridge: 'leave you with the thought I started with.'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stand center. Callback to the Tuesday story. Hold final silence. 'I'm Mohammad Shariya. This is UniGPT. Thank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Tuesday. Second year.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“The information </a:t>
            </a:r>
            <a:pPr algn="l" indent="0" marL="0">
              <a:buNone/>
            </a:pPr>
            <a:r>
              <a:rPr lang="en-US" sz="46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existed</a:t>
            </a:r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9FB2C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 was just somewhere I couldn't reach.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280160"/>
            <a:ext cx="5029200" cy="502920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548640"/>
            <a:ext cx="3108960" cy="3108960"/>
          </a:xfrm>
          <a:prstGeom prst="ellipse">
            <a:avLst/>
          </a:prstGeom>
          <a:solidFill>
            <a:srgbClr val="2DD4BF">
              <a:alpha val="16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Academic Copilot for Smart University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Shariya</a:t>
            </a:r>
            <a:pPr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Northern University Bangladesh · CSE   ·   MindSparks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Six platforms. None of them talking.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317236" y="2880360"/>
            <a:ext cx="1554480" cy="1554480"/>
          </a:xfrm>
          <a:prstGeom prst="ellipse">
            <a:avLst/>
          </a:prstGeom>
          <a:solidFill>
            <a:srgbClr val="132844"/>
          </a:solidFill>
          <a:ln w="25400">
            <a:solidFill>
              <a:srgbClr val="F98A8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3200400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17236" y="4041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4476" y="3657600"/>
            <a:ext cx="-3007392" cy="-547301"/>
          </a:xfrm>
          <a:prstGeom prst="line">
            <a:avLst/>
          </a:prstGeom>
          <a:noFill/>
          <a:ln w="12700">
            <a:solidFill>
              <a:srgbClr val="F98A8A">
                <a:alpha val="55000"/>
              </a:srgbClr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538444" y="2607379"/>
            <a:ext cx="1097280" cy="1097280"/>
          </a:xfrm>
          <a:prstGeom prst="ellipse">
            <a:avLst/>
          </a:prstGeom>
          <a:solidFill>
            <a:srgbClr val="132844"/>
          </a:solidFill>
          <a:ln w="19050">
            <a:solidFill>
              <a:srgbClr val="F98A8A">
                <a:alpha val="7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40" y="2808547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09844" y="3320611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4476" y="3657600"/>
            <a:ext cx="-1094601" cy="-1503696"/>
          </a:xfrm>
          <a:prstGeom prst="line">
            <a:avLst/>
          </a:prstGeom>
          <a:noFill/>
          <a:ln w="12700">
            <a:solidFill>
              <a:srgbClr val="F98A8A">
                <a:alpha val="55000"/>
              </a:srgbClr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4451235" y="1650984"/>
            <a:ext cx="1097280" cy="1097280"/>
          </a:xfrm>
          <a:prstGeom prst="ellipse">
            <a:avLst/>
          </a:prstGeom>
          <a:solidFill>
            <a:srgbClr val="132844"/>
          </a:solidFill>
          <a:ln w="19050">
            <a:solidFill>
              <a:srgbClr val="F98A8A">
                <a:alpha val="70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131" y="1852152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22635" y="23642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94476" y="3657600"/>
            <a:ext cx="1600200" cy="-1385814"/>
          </a:xfrm>
          <a:prstGeom prst="line">
            <a:avLst/>
          </a:prstGeom>
          <a:noFill/>
          <a:ln w="12700">
            <a:solidFill>
              <a:srgbClr val="F98A8A">
                <a:alpha val="55000"/>
              </a:srgbClr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7146036" y="1768866"/>
            <a:ext cx="1097280" cy="1097280"/>
          </a:xfrm>
          <a:prstGeom prst="ellipse">
            <a:avLst/>
          </a:prstGeom>
          <a:solidFill>
            <a:srgbClr val="132844"/>
          </a:solidFill>
          <a:ln w="19050">
            <a:solidFill>
              <a:srgbClr val="F98A8A">
                <a:alpha val="70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1970034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17436" y="248209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94476" y="3657600"/>
            <a:ext cx="3007392" cy="-547301"/>
          </a:xfrm>
          <a:prstGeom prst="line">
            <a:avLst/>
          </a:prstGeom>
          <a:noFill/>
          <a:ln w="12700">
            <a:solidFill>
              <a:srgbClr val="F98A8A">
                <a:alpha val="55000"/>
              </a:srgbClr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8553228" y="2607379"/>
            <a:ext cx="1097280" cy="1097280"/>
          </a:xfrm>
          <a:prstGeom prst="ellipse">
            <a:avLst/>
          </a:prstGeom>
          <a:solidFill>
            <a:srgbClr val="132844"/>
          </a:solidFill>
          <a:ln w="19050">
            <a:solidFill>
              <a:srgbClr val="F98A8A">
                <a:alpha val="7000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4124" y="2808547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24628" y="3320611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94476" y="3657600"/>
            <a:ext cx="2771628" cy="800100"/>
          </a:xfrm>
          <a:prstGeom prst="line">
            <a:avLst/>
          </a:prstGeom>
          <a:noFill/>
          <a:ln w="12700">
            <a:solidFill>
              <a:srgbClr val="F98A8A">
                <a:alpha val="55000"/>
              </a:srgbClr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8317464" y="3954780"/>
            <a:ext cx="1097280" cy="1097280"/>
          </a:xfrm>
          <a:prstGeom prst="ellipse">
            <a:avLst/>
          </a:prstGeom>
          <a:solidFill>
            <a:srgbClr val="132844"/>
          </a:solidFill>
          <a:ln w="19050">
            <a:solidFill>
              <a:srgbClr val="F98A8A">
                <a:alpha val="70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8360" y="4155948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88864" y="46680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094476" y="3657600"/>
            <a:ext cx="0" cy="1600200"/>
          </a:xfrm>
          <a:prstGeom prst="line">
            <a:avLst/>
          </a:prstGeom>
          <a:noFill/>
          <a:ln w="12700">
            <a:solidFill>
              <a:srgbClr val="F98A8A">
                <a:alpha val="55000"/>
              </a:srgbClr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5545836" y="4754880"/>
            <a:ext cx="1097280" cy="1097280"/>
          </a:xfrm>
          <a:prstGeom prst="ellipse">
            <a:avLst/>
          </a:prstGeom>
          <a:solidFill>
            <a:srgbClr val="132844"/>
          </a:solidFill>
          <a:ln w="19050">
            <a:solidFill>
              <a:srgbClr val="F98A8A">
                <a:alpha val="70000"/>
              </a:srgbClr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6732" y="4956048"/>
            <a:ext cx="475488" cy="4754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17236" y="5468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Office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shared Monday is buried under 100 messages by Friday — not deleted, just lost.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other side is just as broken.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9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— buried in repetition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32844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42616"/>
            <a:ext cx="457200" cy="4572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74320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5146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 paper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" y="338328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32844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511296"/>
            <a:ext cx="457200" cy="4572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61188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38328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papers by hand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77240" y="425196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32844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379976"/>
            <a:ext cx="457200" cy="4572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48056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5196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checked one by one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77240" y="5120640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132844"/>
          </a:solidFill>
          <a:ln/>
        </p:spPr>
      </p:sp>
      <p:sp>
        <p:nvSpPr>
          <p:cNvPr id="19" name="Shape 14"/>
          <p:cNvSpPr/>
          <p:nvPr/>
        </p:nvSpPr>
        <p:spPr>
          <a:xfrm>
            <a:off x="960120" y="5248656"/>
            <a:ext cx="457200" cy="4572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534924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12064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calculated manually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40080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9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— flying blind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400800" y="2514600"/>
            <a:ext cx="5029200" cy="3410712"/>
          </a:xfrm>
          <a:prstGeom prst="roundRect">
            <a:avLst>
              <a:gd name="adj" fmla="val 3753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58200" y="2880360"/>
            <a:ext cx="914400" cy="914400"/>
          </a:xfrm>
          <a:prstGeom prst="ellipse">
            <a:avLst/>
          </a:prstGeom>
          <a:solidFill>
            <a:srgbClr val="2A1418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3127248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6720840" y="44348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often don't know a student is failing or skipping class — until the semester is already over.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groups. One root cause: the university has no single brain.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2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 tools collapse into one.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860036" y="2286000"/>
            <a:ext cx="2468880" cy="2468880"/>
          </a:xfrm>
          <a:prstGeom prst="ellipse">
            <a:avLst/>
          </a:prstGeom>
          <a:solidFill>
            <a:srgbClr val="07112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27889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60036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3272" y="5367528"/>
            <a:ext cx="777240" cy="77724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5532120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65960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· grades · materials · quizzes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89704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45736" y="5367528"/>
            <a:ext cx="777240" cy="77724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5532120"/>
            <a:ext cx="448056" cy="4480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78424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678424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· attendance · grading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02168" y="5074920"/>
            <a:ext cx="3209544" cy="1371600"/>
          </a:xfrm>
          <a:prstGeom prst="roundRect">
            <a:avLst>
              <a:gd name="adj" fmla="val 8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58200" y="5367528"/>
            <a:ext cx="777240" cy="77724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2" y="5532120"/>
            <a:ext cx="448056" cy="4480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90888" y="5330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390888" y="56967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· documents · analytics · AI settings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94476" y="4754880"/>
            <a:ext cx="-3717036" cy="320040"/>
          </a:xfrm>
          <a:prstGeom prst="line">
            <a:avLst/>
          </a:prstGeom>
          <a:noFill/>
          <a:ln w="1905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94476" y="4754880"/>
            <a:ext cx="0" cy="320040"/>
          </a:xfrm>
          <a:prstGeom prst="line">
            <a:avLst/>
          </a:prstGeom>
          <a:noFill/>
          <a:ln w="1905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94476" y="4754880"/>
            <a:ext cx="3707892" cy="320040"/>
          </a:xfrm>
          <a:prstGeom prst="line">
            <a:avLst/>
          </a:prstGeom>
          <a:noFill/>
          <a:ln w="1905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Three role-based experiences. You only ever see your own classes.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Grounded AI that never guesses.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— every answer is built only from approved documents.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862072"/>
            <a:ext cx="768096" cy="768096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644" y="30266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264408"/>
            <a:ext cx="347472" cy="3474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75888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57700" y="2862072"/>
            <a:ext cx="768096" cy="768096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292" y="30266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75888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75888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docs only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264408"/>
            <a:ext cx="347472" cy="34747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74536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356348" y="2862072"/>
            <a:ext cx="768096" cy="768096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302666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74536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74536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passages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3264408"/>
            <a:ext cx="347472" cy="34747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473184" y="2606040"/>
            <a:ext cx="2331720" cy="1691640"/>
          </a:xfrm>
          <a:prstGeom prst="roundRect">
            <a:avLst>
              <a:gd name="adj" fmla="val 7568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254996" y="2862072"/>
            <a:ext cx="768096" cy="768096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9588" y="3026664"/>
            <a:ext cx="438912" cy="4389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73184" y="3657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9473184" y="39593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· page · confidence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3108960" y="4800600"/>
            <a:ext cx="5971032" cy="1417320"/>
          </a:xfrm>
          <a:prstGeom prst="roundRect">
            <a:avLst>
              <a:gd name="adj" fmla="val 7742"/>
            </a:avLst>
          </a:prstGeom>
          <a:solidFill>
            <a:srgbClr val="0E2E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5074920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97764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provable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3977640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400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Handbook, p.12</a:t>
            </a:r>
            <a:pPr indent="0" marL="0">
              <a:buNone/>
            </a:pPr>
            <a:r>
              <a:rPr lang="en-US" sz="14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confidence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2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personal academic copilot.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07112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68880" y="269748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26974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CSE301 retake exam?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429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132844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6616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CSE301 retake is on July 14, 10:00 AM in Room 402.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88720" y="4224528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0E2E33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4224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Exam Notice, p.3 </a:t>
            </a:r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cited · in seconds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176272"/>
            <a:ext cx="502920" cy="50292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2286000"/>
            <a:ext cx="283464" cy="28346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31520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chat modes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· assignments · research · career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3026664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29400" y="3236976"/>
            <a:ext cx="502920" cy="50292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3346704"/>
            <a:ext cx="283464" cy="28346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&amp; GPA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31520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standing in real time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0" y="408736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4407408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315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&amp; roadmap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315200" y="4590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degree progress, any time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00800" y="5148072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629400" y="5358384"/>
            <a:ext cx="502920" cy="50292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5468112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1520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Proctored quizzes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315200" y="5650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class tests, graded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FACULTY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2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assistant that does the busywork.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40680" cy="4160520"/>
          </a:xfrm>
          <a:prstGeom prst="roundRect">
            <a:avLst>
              <a:gd name="adj" fmla="val 3077"/>
            </a:avLst>
          </a:prstGeom>
          <a:solidFill>
            <a:srgbClr val="07112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128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Teaching Assistant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51560" y="2880360"/>
            <a:ext cx="4937760" cy="54864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880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Generate a 10-question quiz on Chapter 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51560" y="361188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32844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normalization in DBMS…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51560" y="4178808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32844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178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normal form removes…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51560" y="4745736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132844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7457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True / False: a primary key…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5440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 — nothing reaches students until the teacher publishes.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96596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2176272"/>
            <a:ext cx="502920" cy="50292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86000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12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quizzes &amp; assignments from material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0" y="3026664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629400" y="3236976"/>
            <a:ext cx="502920" cy="50292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346704"/>
            <a:ext cx="283464" cy="2834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1520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attendance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315200" y="35295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not a spreadsheet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00800" y="4087368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07408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1520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 feedback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315200" y="4590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gaps &amp; a comment to approve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00800" y="5148072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629400" y="5358384"/>
            <a:ext cx="502920" cy="50292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5468112"/>
            <a:ext cx="283464" cy="2834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15200" y="52943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alerts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7315200" y="5650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struggling students during the term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199693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19969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AF2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Mission control — and the trust layer.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34472" cy="1965960"/>
          </a:xfrm>
          <a:prstGeom prst="roundRect">
            <a:avLst>
              <a:gd name="adj" fmla="val 6512"/>
            </a:avLst>
          </a:prstGeom>
          <a:solidFill>
            <a:srgbClr val="07112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document becomes AI knowledge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5156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93522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6479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6479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990088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904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935224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6227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46227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gate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2990088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4652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35224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5975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Auto-indexed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15975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split · embed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2990088"/>
            <a:ext cx="310896" cy="31089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44000" y="2697480"/>
            <a:ext cx="2240280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2935224"/>
            <a:ext cx="420624" cy="42062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857232" y="2807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cite it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9857232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quotable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1051560" y="36758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or edit it — and it disappears from every answer instantly.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777240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1051560" y="4480560"/>
            <a:ext cx="640080" cy="64008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617720"/>
            <a:ext cx="365760" cy="3657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05156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monitor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1051560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usage per person; revoke or reinstate access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370832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4645152" y="4480560"/>
            <a:ext cx="640080" cy="64008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4617720"/>
            <a:ext cx="365760" cy="3657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645152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analytics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4645152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across every department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7964424" y="4206240"/>
            <a:ext cx="3392424" cy="1874520"/>
          </a:xfrm>
          <a:prstGeom prst="roundRect">
            <a:avLst>
              <a:gd name="adj" fmla="val 585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8238744" y="4480560"/>
            <a:ext cx="640080" cy="64008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904" y="4617720"/>
            <a:ext cx="365760" cy="36576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238744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health</a:t>
            </a:r>
            <a:endParaRPr lang="en-US" sz="1600" dirty="0"/>
          </a:p>
        </p:txBody>
      </p:sp>
      <p:sp>
        <p:nvSpPr>
          <p:cNvPr id="41" name="Text 29"/>
          <p:cNvSpPr/>
          <p:nvPr/>
        </p:nvSpPr>
        <p:spPr>
          <a:xfrm>
            <a:off x="8238744" y="55595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storage · AI status at a glance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6934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INTEGRITY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AF2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 exam integrity, in the browser.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tests run fullscreen and server-authoritative — the client is never trusted.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9848" y="2788920"/>
            <a:ext cx="777240" cy="77724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95351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Fullscreen enforced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057400" y="31821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fullscreen or switching tabs is detected and recorded as a warning.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08776" y="246888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01384" y="2788920"/>
            <a:ext cx="777240" cy="77724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95351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88936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Auto-disqualify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488936" y="31821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proctoring violations end the attempt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7240" y="425196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69848" y="4572000"/>
            <a:ext cx="777240" cy="77724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736592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526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timer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2057400" y="4965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countdown starts on launch; an attempt can't be restarted for extra time.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08776" y="4251960"/>
            <a:ext cx="5065776" cy="1600200"/>
          </a:xfrm>
          <a:prstGeom prst="roundRect">
            <a:avLst>
              <a:gd name="adj" fmla="val 6857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01384" y="4572000"/>
            <a:ext cx="777240" cy="77724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736592"/>
            <a:ext cx="448056" cy="4480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88936" y="4526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7488936" y="496519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never reach the browser; grading happens on the server,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187245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18724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HONESTLY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messaging — built to run anywhere.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the faculty they share a class with chat live — with an honest path to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788920"/>
            <a:ext cx="914400" cy="914400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3017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1:1 chat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to people who share a section — presence, typing &amp; last-seen indicators.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0832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5272" y="2788920"/>
            <a:ext cx="914400" cy="914400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by design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90872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the database first, then broadcast; polling fallback means nothing is ever lost.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64424" y="2468880"/>
            <a:ext cx="3392424" cy="3474720"/>
          </a:xfrm>
          <a:prstGeom prst="roundRect">
            <a:avLst>
              <a:gd name="adj" fmla="val 377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98864" y="2788920"/>
            <a:ext cx="914400" cy="914400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3017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38744" y="3886200"/>
            <a:ext cx="2843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path to scale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284464" y="4434840"/>
            <a:ext cx="27523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on a hosted broadcaster today; self-host Laravel Reverb on a VPS — same client, swap the broadcaster.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constraint and the upgrade path is a maturity signal — judges reward honesty over hand-waving.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9595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495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Lean. Production-ready.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48840"/>
            <a:ext cx="512064" cy="512064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585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756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 </a:t>
            </a:r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Inertia.js · Tailwind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4414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role-differentiated UI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2990088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3172968"/>
            <a:ext cx="512064" cy="512064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2826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9981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 </a:t>
            </a:r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 (PHP)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91640" y="346557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REST APIs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" y="4014216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05840" y="4197096"/>
            <a:ext cx="512064" cy="512064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0682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12394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Vector Search   </a:t>
            </a:r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44897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AND embeddings — native cosine, no vector DB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" y="5038344"/>
            <a:ext cx="7680960" cy="877824"/>
          </a:xfrm>
          <a:prstGeom prst="roundRect">
            <a:avLst>
              <a:gd name="adj" fmla="val 125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5840" y="5221224"/>
            <a:ext cx="512064" cy="512064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3309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1480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 </a:t>
            </a:r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(default)  /  OpenAI (drop-in key)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91640" y="55138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providers behind one interface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732520" y="1965960"/>
            <a:ext cx="2697480" cy="4032504"/>
          </a:xfrm>
          <a:prstGeom prst="roundRect">
            <a:avLst>
              <a:gd name="adj" fmla="val 4746"/>
            </a:avLst>
          </a:prstGeom>
          <a:solidFill>
            <a:srgbClr val="0E2E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3317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611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runs natively in MySQL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8961120" y="39319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search engine to deploy, run, or pay for.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915400" y="50749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decision that keeps the whole platform lean enough for one person to ship.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298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Swap the brain, keep the platform.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logic lives behind one interface — demo today, production tomorrow.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0E2E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97480" y="2651760"/>
            <a:ext cx="1188720" cy="1188720"/>
          </a:xfrm>
          <a:prstGeom prst="ellipse">
            <a:avLst/>
          </a:prstGeom>
          <a:solidFill>
            <a:srgbClr val="132844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303580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PROVIDER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needs NO API key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864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+ quiz generation, zero cost to demo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82512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302752" y="2651760"/>
            <a:ext cx="1188720" cy="1188720"/>
          </a:xfrm>
          <a:prstGeom prst="ellipse">
            <a:avLst/>
          </a:prstGeom>
          <a:solidFill>
            <a:srgbClr val="0E2E33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03580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82512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PROVIDER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56832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key for production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56832" y="4864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contract — Gemini or local LLMs slot in next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377440" y="5806440"/>
            <a:ext cx="7434072" cy="640080"/>
          </a:xfrm>
          <a:prstGeom prst="roundRect">
            <a:avLst>
              <a:gd name="adj" fmla="val 20000"/>
            </a:avLst>
          </a:prstGeom>
          <a:solidFill>
            <a:srgbClr val="0E2E33"/>
          </a:solidFill>
          <a:ln/>
        </p:spPr>
      </p:sp>
      <p:sp>
        <p:nvSpPr>
          <p:cNvPr id="19" name="Text 15"/>
          <p:cNvSpPr/>
          <p:nvPr/>
        </p:nvSpPr>
        <p:spPr>
          <a:xfrm>
            <a:off x="2377440" y="5806440"/>
            <a:ext cx="7434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AI dependencies: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product demos with no keys, no setup.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384755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3847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CHATGPT?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2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reasons nobody else has.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60520" y="2011680"/>
            <a:ext cx="3611880" cy="640080"/>
          </a:xfrm>
          <a:prstGeom prst="roundRect">
            <a:avLst>
              <a:gd name="adj" fmla="val 14286"/>
            </a:avLst>
          </a:prstGeom>
          <a:solidFill>
            <a:srgbClr val="24344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60520" y="2011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ChatGPT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09560" y="2011680"/>
            <a:ext cx="3502152" cy="640080"/>
          </a:xfrm>
          <a:prstGeom prst="roundRect">
            <a:avLst>
              <a:gd name="adj" fmla="val 14286"/>
            </a:avLst>
          </a:prstGeom>
          <a:solidFill>
            <a:srgbClr val="07112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201168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answers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60520" y="278892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30815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46320" y="278892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internet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09560" y="278892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0815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13648" y="278892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approved documents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77240" y="3840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160520" y="384048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41330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46320" y="384048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7909560" y="384048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1330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13648" y="3840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· page · confidence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4160520" y="489204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518464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46320" y="489204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7909560" y="4892040"/>
            <a:ext cx="3502152" cy="914400"/>
          </a:xfrm>
          <a:prstGeom prst="roundRect">
            <a:avLst>
              <a:gd name="adj" fmla="val 10000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518464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13648" y="48920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— you see only what you may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315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chatbot. That's institutional infrastructure.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69346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2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mature, demonstrable MVP.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Faculty · Admin — one login, tailored per 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11296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02736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40+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694176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9896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guarded, every action audited, roles can expire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428232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workflows wired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· quiz · proctor · grade · report — end to 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2286000"/>
            <a:ext cx="2551176" cy="3566160"/>
          </a:xfrm>
          <a:prstGeom prst="roundRect">
            <a:avLst>
              <a:gd name="adj" fmla="val 4301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70848" y="2697480"/>
            <a:ext cx="23682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9162288" y="3931920"/>
            <a:ext cx="2185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dependencies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8008" y="461772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vector DB, no LLM SDK — runs in-house, demos with no keys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slideware concept — a working platform you can demo on any laptop, with no setup.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FEASIBILITY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 concept. Already built.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468880"/>
            <a:ext cx="914400" cy="914400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697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already built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AI · approvals · proctored quizzes · messaging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05272" y="2468880"/>
            <a:ext cx="914400" cy="914400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2697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2272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1000s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4599432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45152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faculty, departments &amp; documents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64424" y="2148840"/>
            <a:ext cx="3392424" cy="3749040"/>
          </a:xfrm>
          <a:prstGeom prst="roundRect">
            <a:avLst>
              <a:gd name="adj" fmla="val 3774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98864" y="2468880"/>
            <a:ext cx="914400" cy="914400"/>
          </a:xfrm>
          <a:prstGeom prst="ellipse">
            <a:avLst/>
          </a:prstGeom>
          <a:solidFill>
            <a:srgbClr val="0E2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2697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55864" y="3520440"/>
            <a:ext cx="32095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Equity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8193024" y="4343400"/>
            <a:ext cx="2935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one campus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38744" y="484632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instant for every student, any university size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31520" y="6144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Bangladesh, universities struggle with exactly this fragmentation — UniGPT raises both quality and equity of education.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890979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8909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VISION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2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it goes next.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194560" y="3429000"/>
            <a:ext cx="7498080" cy="0"/>
          </a:xfrm>
          <a:prstGeom prst="line">
            <a:avLst/>
          </a:prstGeom>
          <a:noFill/>
          <a:ln w="25400">
            <a:solidFill>
              <a:srgbClr val="14B8A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3200400"/>
            <a:ext cx="457200" cy="457200"/>
          </a:xfrm>
          <a:prstGeom prst="ellipse">
            <a:avLst/>
          </a:prstGeom>
          <a:solidFill>
            <a:srgbClr val="14B8A6"/>
          </a:solidFill>
          <a:ln w="38100">
            <a:solidFill>
              <a:srgbClr val="0C1B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4069080"/>
            <a:ext cx="685800" cy="68580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421538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portals, dual-mode AI, proctored quizzes — working today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15584" y="3200400"/>
            <a:ext cx="457200" cy="457200"/>
          </a:xfrm>
          <a:prstGeom prst="ellipse">
            <a:avLst/>
          </a:prstGeom>
          <a:solidFill>
            <a:srgbClr val="14B8A6"/>
          </a:solidFill>
          <a:ln w="38100">
            <a:solidFill>
              <a:srgbClr val="0C1B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98264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2584" y="4069080"/>
            <a:ext cx="685800" cy="68580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4215384"/>
            <a:ext cx="393192" cy="3931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95544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72584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insight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72584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Telegram delivery · predictive analytics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436608" y="3200400"/>
            <a:ext cx="457200" cy="457200"/>
          </a:xfrm>
          <a:prstGeom prst="ellipse">
            <a:avLst/>
          </a:prstGeom>
          <a:solidFill>
            <a:srgbClr val="14B8A6"/>
          </a:solidFill>
          <a:ln w="38100">
            <a:solidFill>
              <a:srgbClr val="0C1B3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19288" y="3794760"/>
            <a:ext cx="3392424" cy="2148840"/>
          </a:xfrm>
          <a:prstGeom prst="roundRect">
            <a:avLst>
              <a:gd name="adj" fmla="val 5106"/>
            </a:avLst>
          </a:prstGeom>
          <a:solidFill>
            <a:srgbClr val="132844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93608" y="4069080"/>
            <a:ext cx="685800" cy="685800"/>
          </a:xfrm>
          <a:prstGeom prst="ellipse">
            <a:avLst/>
          </a:prstGeom>
          <a:solidFill>
            <a:srgbClr val="0C1B3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4215384"/>
            <a:ext cx="393192" cy="3931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16568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293608" y="4892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ecosystem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293608" y="532180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· digital library · multi-institution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3152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vision: universities as AI-driven ecosystems — knowledge instant, friction gone, teachers back to teaching.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474720"/>
            <a:ext cx="5029200" cy="50292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417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UniGPT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university's knowledge — instant, grounded, and provable.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  </a:t>
            </a:r>
            <a:pPr algn="ctr" indent="0" marL="0">
              <a:buNone/>
            </a:pPr>
            <a:r>
              <a:rPr lang="en-US" sz="1700" dirty="0">
                <a:solidFill>
                  <a:srgbClr val="B9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AI.   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answer, provable.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Shariya</a:t>
            </a:r>
            <a:pPr algn="ctr" indent="0" marL="0">
              <a:buNone/>
            </a:pPr>
            <a:r>
              <a:rPr lang="en-US" sz="14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Northern University Bangladesh   ·   shariya873@gmail.com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UniGPT — An AI Academic Copilot</dc:title>
  <dc:subject>PptxGenJS Presentation</dc:subject>
  <dc:creator>Mohammad Shariya</dc:creator>
  <cp:lastModifiedBy>Mohammad Shariya</cp:lastModifiedBy>
  <cp:revision>1</cp:revision>
  <dcterms:created xsi:type="dcterms:W3CDTF">2026-06-26T19:10:24Z</dcterms:created>
  <dcterms:modified xsi:type="dcterms:W3CDTF">2026-06-26T19:10:24Z</dcterms:modified>
</cp:coreProperties>
</file>