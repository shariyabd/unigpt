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— Micro-story. Slow + quiet. Deliver the Tuesday story, 2-sec pauses, look at judges. Then: 'My name is Mohammad Shariya, third-year CSE at NUB — and this is UniGPT.'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— Let it breathe 2s. Slow, drop pitch on the name. One platform that unifies everything; AI that answers from the university's own approved documents and shows where every answer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— student's life across 6 disconnected tools. Notice the tangle. Bridge to faculty: 'turn the camera around.'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— faculty repetition + admin blindness. Bridge: 'So I built one [single brain].'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— the chaos becomes one hub, three role doors. Bridge: 'the structure isn't the innovation — THIS is.'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INNOVATION — slowest delivery. RAG = no hallucination, cites doc+page+confidence. Bridge: that engine powers a feature for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STUDENTS — copilot. Cited answers in seconds, modes, live grades, no office queues. Bridge to faculty.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FACULTY — drafts quizzes/assignments, suggests feedback, one-tap attendance, at-risk alerts DURING the semester. Bridge to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ADMIN — governance: doc is quotable only after approval; reject removes it instantly. Usage monitor, analytics, system health. Nothing is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PROCTORED INTEGRITY — fullscreen enforced, auto-disqualify, tamper-proof per-student timer, server-authoritative grading (client answers never trusted). This is a security-engineering flex; deliver it with confidence. Bridge: and students and faculty stay connected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REAL-TIME, HONESTLY — live chat gated to shared sections; DB-first then broadcast with polling fallback; honest trade-off — hosted broadcaster now, self-host Reverb on a VPS to scale, same client. Engineering judges reward this honesty. Bridge: so how does the whole thing run?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— for technical judges. Laravel 11 + Vue 3 + MySQL 8 (data AND embeddings, native cosine) + pluggable AI. Key: vector search inside the DB, zero external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LOCK-IN — pluggable providers behind one interface. Mock by default (zero keys, full demo), OpenAI drops in for production, Gemini/local LLMs slot into the same contract. Bridge: why not just use ChatGPT?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DIFFERENTIATION — count three on fingers: source, citations, permissions. Permission-aware is the knockout. Bridge to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— 3 dashboards, 40+ permissions, 100% core workflows wired, 0 external AI dependencies. Big numbers land with judges. The '0' is the punchline — it demos anywhere. Bridge: and it's not a concept — it's already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— already built (production-ready), scales to thousands, equity impact across Bangladesh. Don't invent metrics. Bridge to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— now → next → vision. End energized then drop pitch on the vision line. Bridge: 'leave you with the thought I started with.'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stand center. Callback to the Tuesday story. Hold final silence. 'I'm Mohammad Shariya. This is UniGPT. Thank you.'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Tuesday. Second year.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“The information </a:t>
            </a:r>
            <a:pPr algn="l" indent="0" marL="0">
              <a:buNone/>
            </a:pPr>
            <a:r>
              <a:rPr lang="en-US" sz="4600" b="1" i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existed</a:t>
            </a:r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94A3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 was just somewhere I couldn't reach.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280160"/>
            <a:ext cx="5029200" cy="5029200"/>
          </a:xfrm>
          <a:prstGeom prst="ellipse">
            <a:avLst/>
          </a:prstGeom>
          <a:solidFill>
            <a:srgbClr val="0D948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548640"/>
            <a:ext cx="3108960" cy="3108960"/>
          </a:xfrm>
          <a:prstGeom prst="ellipse">
            <a:avLst/>
          </a:prstGeom>
          <a:solidFill>
            <a:srgbClr val="2DD4BF">
              <a:alpha val="16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23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UniGPT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Academic Copilot for Smart University Management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Shariya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Northern University Bangladesh · CSE   ·   MindSparks 2026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397203" cy="31089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3972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Six platforms. None of them talking.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317236" y="2880360"/>
            <a:ext cx="1554480" cy="1554480"/>
          </a:xfrm>
          <a:prstGeom prst="ellipse">
            <a:avLst/>
          </a:prstGeom>
          <a:solidFill>
            <a:srgbClr val="11203A"/>
          </a:solidFill>
          <a:ln w="25400">
            <a:solidFill>
              <a:srgbClr val="F8717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428" y="3200400"/>
            <a:ext cx="768096" cy="768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17236" y="40416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94476" y="3657600"/>
            <a:ext cx="-3007392" cy="-547301"/>
          </a:xfrm>
          <a:prstGeom prst="line">
            <a:avLst/>
          </a:prstGeom>
          <a:noFill/>
          <a:ln w="12700">
            <a:solidFill>
              <a:srgbClr val="F87171">
                <a:alpha val="55000"/>
              </a:srgbClr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538444" y="2607379"/>
            <a:ext cx="1097280" cy="1097280"/>
          </a:xfrm>
          <a:prstGeom prst="ellipse">
            <a:avLst/>
          </a:prstGeom>
          <a:solidFill>
            <a:srgbClr val="11203A"/>
          </a:solidFill>
          <a:ln w="19050">
            <a:solidFill>
              <a:srgbClr val="F87171">
                <a:alpha val="7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40" y="2808547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09844" y="3320611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4476" y="3657600"/>
            <a:ext cx="-1094601" cy="-1503696"/>
          </a:xfrm>
          <a:prstGeom prst="line">
            <a:avLst/>
          </a:prstGeom>
          <a:noFill/>
          <a:ln w="12700">
            <a:solidFill>
              <a:srgbClr val="F87171">
                <a:alpha val="55000"/>
              </a:srgbClr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4451235" y="1650984"/>
            <a:ext cx="1097280" cy="1097280"/>
          </a:xfrm>
          <a:prstGeom prst="ellipse">
            <a:avLst/>
          </a:prstGeom>
          <a:solidFill>
            <a:srgbClr val="11203A"/>
          </a:solidFill>
          <a:ln w="19050">
            <a:solidFill>
              <a:srgbClr val="F87171">
                <a:alpha val="7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131" y="1852152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22635" y="23642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094476" y="3657600"/>
            <a:ext cx="1600200" cy="-1385814"/>
          </a:xfrm>
          <a:prstGeom prst="line">
            <a:avLst/>
          </a:prstGeom>
          <a:noFill/>
          <a:ln w="12700">
            <a:solidFill>
              <a:srgbClr val="F87171">
                <a:alpha val="55000"/>
              </a:srgbClr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7146036" y="1768866"/>
            <a:ext cx="1097280" cy="1097280"/>
          </a:xfrm>
          <a:prstGeom prst="ellipse">
            <a:avLst/>
          </a:prstGeom>
          <a:solidFill>
            <a:srgbClr val="11203A"/>
          </a:solidFill>
          <a:ln w="19050">
            <a:solidFill>
              <a:srgbClr val="F87171">
                <a:alpha val="7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1970034"/>
            <a:ext cx="475488" cy="4754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17436" y="248209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094476" y="3657600"/>
            <a:ext cx="3007392" cy="-547301"/>
          </a:xfrm>
          <a:prstGeom prst="line">
            <a:avLst/>
          </a:prstGeom>
          <a:noFill/>
          <a:ln w="12700">
            <a:solidFill>
              <a:srgbClr val="F87171">
                <a:alpha val="55000"/>
              </a:srgbClr>
            </a:solidFill>
            <a:prstDash val="dash"/>
          </a:ln>
        </p:spPr>
      </p:sp>
      <p:sp>
        <p:nvSpPr>
          <p:cNvPr id="21" name="Shape 15"/>
          <p:cNvSpPr/>
          <p:nvPr/>
        </p:nvSpPr>
        <p:spPr>
          <a:xfrm>
            <a:off x="8553228" y="2607379"/>
            <a:ext cx="1097280" cy="1097280"/>
          </a:xfrm>
          <a:prstGeom prst="ellipse">
            <a:avLst/>
          </a:prstGeom>
          <a:solidFill>
            <a:srgbClr val="11203A"/>
          </a:solidFill>
          <a:ln w="19050">
            <a:solidFill>
              <a:srgbClr val="F87171">
                <a:alpha val="7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4124" y="2808547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24628" y="3320611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094476" y="3657600"/>
            <a:ext cx="2771628" cy="800100"/>
          </a:xfrm>
          <a:prstGeom prst="line">
            <a:avLst/>
          </a:prstGeom>
          <a:noFill/>
          <a:ln w="12700">
            <a:solidFill>
              <a:srgbClr val="F87171">
                <a:alpha val="55000"/>
              </a:srgbClr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8317464" y="3954780"/>
            <a:ext cx="1097280" cy="1097280"/>
          </a:xfrm>
          <a:prstGeom prst="ellipse">
            <a:avLst/>
          </a:prstGeom>
          <a:solidFill>
            <a:srgbClr val="11203A"/>
          </a:solidFill>
          <a:ln w="19050">
            <a:solidFill>
              <a:srgbClr val="F87171">
                <a:alpha val="7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8360" y="4155948"/>
            <a:ext cx="475488" cy="4754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088864" y="46680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094476" y="3657600"/>
            <a:ext cx="0" cy="1600200"/>
          </a:xfrm>
          <a:prstGeom prst="line">
            <a:avLst/>
          </a:prstGeom>
          <a:noFill/>
          <a:ln w="12700">
            <a:solidFill>
              <a:srgbClr val="F87171">
                <a:alpha val="55000"/>
              </a:srgbClr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5545836" y="4754880"/>
            <a:ext cx="1097280" cy="1097280"/>
          </a:xfrm>
          <a:prstGeom prst="ellipse">
            <a:avLst/>
          </a:prstGeom>
          <a:solidFill>
            <a:srgbClr val="11203A"/>
          </a:solidFill>
          <a:ln w="19050">
            <a:solidFill>
              <a:srgbClr val="F87171">
                <a:alpha val="70000"/>
              </a:srgbClr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6732" y="4956048"/>
            <a:ext cx="475488" cy="4754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317236" y="54681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Office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shared Monday is buried under 100 messages by Friday — not deleted, just lost.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397203" cy="31089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3972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other side is just as broken.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— buried in repetition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11203A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642616"/>
            <a:ext cx="457200" cy="457200"/>
          </a:xfrm>
          <a:prstGeom prst="ellipse">
            <a:avLst/>
          </a:prstGeom>
          <a:solidFill>
            <a:srgbClr val="2A141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74320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51460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on paper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338328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11203A"/>
          </a:solidFill>
          <a:ln/>
        </p:spPr>
      </p:sp>
      <p:sp>
        <p:nvSpPr>
          <p:cNvPr id="11" name="Shape 8"/>
          <p:cNvSpPr/>
          <p:nvPr/>
        </p:nvSpPr>
        <p:spPr>
          <a:xfrm>
            <a:off x="960120" y="3511296"/>
            <a:ext cx="457200" cy="457200"/>
          </a:xfrm>
          <a:prstGeom prst="ellipse">
            <a:avLst/>
          </a:prstGeom>
          <a:solidFill>
            <a:srgbClr val="2A141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61188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38328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papers by hand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77240" y="425196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11203A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379976"/>
            <a:ext cx="457200" cy="457200"/>
          </a:xfrm>
          <a:prstGeom prst="ellipse">
            <a:avLst/>
          </a:prstGeom>
          <a:solidFill>
            <a:srgbClr val="2A141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48056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5196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checked one by one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77240" y="512064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11203A"/>
          </a:solidFill>
          <a:ln/>
        </p:spPr>
      </p:sp>
      <p:sp>
        <p:nvSpPr>
          <p:cNvPr id="19" name="Shape 14"/>
          <p:cNvSpPr/>
          <p:nvPr/>
        </p:nvSpPr>
        <p:spPr>
          <a:xfrm>
            <a:off x="960120" y="5248656"/>
            <a:ext cx="457200" cy="457200"/>
          </a:xfrm>
          <a:prstGeom prst="ellipse">
            <a:avLst/>
          </a:prstGeom>
          <a:solidFill>
            <a:srgbClr val="2A141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534924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12064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calculated manually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0080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— flying blind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400800" y="2514600"/>
            <a:ext cx="5029200" cy="3410712"/>
          </a:xfrm>
          <a:prstGeom prst="roundRect">
            <a:avLst>
              <a:gd name="adj" fmla="val 3753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458200" y="2880360"/>
            <a:ext cx="914400" cy="914400"/>
          </a:xfrm>
          <a:prstGeom prst="ellipse">
            <a:avLst/>
          </a:prstGeom>
          <a:solidFill>
            <a:srgbClr val="2A141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88" y="3127248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0800" y="3931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6720840" y="44348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often don't know a student is failing or skipping class — until the semester is already over.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31520" y="6199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B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groups. One root cause: the university has no single brain.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95958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495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Ten tools collapse into one.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860036" y="2286000"/>
            <a:ext cx="2468880" cy="2468880"/>
          </a:xfrm>
          <a:prstGeom prst="ellipse">
            <a:avLst/>
          </a:prstGeom>
          <a:solidFill>
            <a:srgbClr val="0A162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278892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60036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UniGPT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5074920"/>
            <a:ext cx="32095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33272" y="5367528"/>
            <a:ext cx="777240" cy="77724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5532120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5330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965960" y="5696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· grades · materials · quizzes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89704" y="5074920"/>
            <a:ext cx="32095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45736" y="5367528"/>
            <a:ext cx="777240" cy="77724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5532120"/>
            <a:ext cx="448056" cy="4480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78424" y="5330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5678424" y="5696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assistant · attendance · grading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202168" y="5074920"/>
            <a:ext cx="32095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58200" y="5367528"/>
            <a:ext cx="777240" cy="77724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2" y="5532120"/>
            <a:ext cx="448056" cy="4480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90888" y="5330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390888" y="5696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documents · analytics · AI settings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094476" y="4754880"/>
            <a:ext cx="-3717036" cy="320040"/>
          </a:xfrm>
          <a:prstGeom prst="line">
            <a:avLst/>
          </a:prstGeom>
          <a:noFill/>
          <a:ln w="1905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94476" y="4754880"/>
            <a:ext cx="0" cy="320040"/>
          </a:xfrm>
          <a:prstGeom prst="line">
            <a:avLst/>
          </a:prstGeom>
          <a:noFill/>
          <a:ln w="1905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094476" y="4754880"/>
            <a:ext cx="3707892" cy="320040"/>
          </a:xfrm>
          <a:prstGeom prst="line">
            <a:avLst/>
          </a:prstGeom>
          <a:noFill/>
          <a:ln w="1905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login. Three role-based experiences. You only ever see your own classes.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Grounded AI that never guesses.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— every answer is built only from approved documents.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9052" y="2862072"/>
            <a:ext cx="768096" cy="768096"/>
          </a:xfrm>
          <a:prstGeom prst="ellipse">
            <a:avLst/>
          </a:prstGeom>
          <a:solidFill>
            <a:srgbClr val="0E2A2E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644" y="302666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3264408"/>
            <a:ext cx="347472" cy="347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75888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57700" y="2862072"/>
            <a:ext cx="768096" cy="768096"/>
          </a:xfrm>
          <a:prstGeom prst="ellipse">
            <a:avLst/>
          </a:prstGeom>
          <a:solidFill>
            <a:srgbClr val="0E2A2E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292" y="302666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75888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675888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docs only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3264408"/>
            <a:ext cx="347472" cy="34747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74536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356348" y="2862072"/>
            <a:ext cx="768096" cy="768096"/>
          </a:xfrm>
          <a:prstGeom prst="ellipse">
            <a:avLst/>
          </a:prstGeom>
          <a:solidFill>
            <a:srgbClr val="0E2A2E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940" y="3026664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74536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574536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relevant passages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984" y="3264408"/>
            <a:ext cx="347472" cy="34747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473184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10254996" y="2862072"/>
            <a:ext cx="768096" cy="768096"/>
          </a:xfrm>
          <a:prstGeom prst="ellipse">
            <a:avLst/>
          </a:prstGeom>
          <a:solidFill>
            <a:srgbClr val="0E2A2E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9588" y="3026664"/>
            <a:ext cx="438912" cy="43891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473184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9473184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· page · confidence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3108960" y="4800600"/>
            <a:ext cx="5971032" cy="1417320"/>
          </a:xfrm>
          <a:prstGeom prst="roundRect">
            <a:avLst>
              <a:gd name="adj" fmla="val 7742"/>
            </a:avLst>
          </a:prstGeom>
          <a:solidFill>
            <a:srgbClr val="0E2A2E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5074920"/>
            <a:ext cx="457200" cy="4572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97764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provable</a:t>
            </a:r>
            <a:endParaRPr lang="en-US" sz="1600" dirty="0"/>
          </a:p>
        </p:txBody>
      </p:sp>
      <p:sp>
        <p:nvSpPr>
          <p:cNvPr id="32" name="Text 22"/>
          <p:cNvSpPr/>
          <p:nvPr/>
        </p:nvSpPr>
        <p:spPr>
          <a:xfrm>
            <a:off x="3977640" y="5440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400" dirty="0">
                <a:solidFill>
                  <a:srgbClr val="CB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Handbook, p.12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confidence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95958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495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personal academic copilot.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440680" cy="4160520"/>
          </a:xfrm>
          <a:prstGeom prst="roundRect">
            <a:avLst>
              <a:gd name="adj" fmla="val 3077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68880" y="2697480"/>
            <a:ext cx="3566160" cy="54864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26974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the CSE301 retake exam?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42900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11203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5661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CSE301 retake is on July 14, 10:00 AM in Room 402.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88720" y="4224528"/>
            <a:ext cx="3657600" cy="411480"/>
          </a:xfrm>
          <a:prstGeom prst="roundRect">
            <a:avLst>
              <a:gd name="adj" fmla="val 22222"/>
            </a:avLst>
          </a:prstGeom>
          <a:solidFill>
            <a:srgbClr val="0E2A2E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42245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Exam Notice, p.3 </a:t>
            </a:r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96%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cited · in seconds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96596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2176272"/>
            <a:ext cx="502920" cy="50292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128" y="2286000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15200" y="2112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chat modes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1520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 · assignments · research · career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0" y="3026664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29400" y="3236976"/>
            <a:ext cx="502920" cy="50292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3346704"/>
            <a:ext cx="283464" cy="28346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3172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attendance &amp; GPA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315200" y="35295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standing in real time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00800" y="408736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629400" y="4297680"/>
            <a:ext cx="502920" cy="50292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4407408"/>
            <a:ext cx="283464" cy="28346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315200" y="4233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&amp; roadmap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7315200" y="45902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degree progress, any time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400800" y="5148072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629400" y="5358384"/>
            <a:ext cx="502920" cy="50292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5468112"/>
            <a:ext cx="283464" cy="28346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315200" y="52943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Proctored quizzes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7315200" y="5650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class tests, graded instantly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397203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3972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FACULTY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 assistant that does the busywork.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440680" cy="4160520"/>
          </a:xfrm>
          <a:prstGeom prst="roundRect">
            <a:avLst>
              <a:gd name="adj" fmla="val 3077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128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40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Teaching Assistant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51560" y="2880360"/>
            <a:ext cx="493776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28803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Generate a 10-question quiz on Chapter 4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51560" y="3611880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11203A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611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Define normalization in DBMS…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51560" y="4178808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11203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1788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normal form removes…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51560" y="4745736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11203A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74573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True / False: a primary key…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5440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only — nothing reaches students until the teacher publishes.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196596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29400" y="2176272"/>
            <a:ext cx="502920" cy="50292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286000"/>
            <a:ext cx="283464" cy="28346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2112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31520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quizzes &amp; assignments from material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00800" y="3026664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629400" y="3236976"/>
            <a:ext cx="502920" cy="50292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3346704"/>
            <a:ext cx="283464" cy="2834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315200" y="3172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attendance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7315200" y="35295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screen, not a spreadsheet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400800" y="408736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629400" y="4297680"/>
            <a:ext cx="502920" cy="50292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407408"/>
            <a:ext cx="283464" cy="28346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15200" y="4233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grading feedback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315200" y="45902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gaps &amp; a comment to approve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400800" y="5148072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629400" y="5358384"/>
            <a:ext cx="502920" cy="50292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5468112"/>
            <a:ext cx="283464" cy="28346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15200" y="52943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alerts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7315200" y="5650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struggling students during the term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199693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19969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Mission control — and the trust layer.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10634472" cy="1965960"/>
          </a:xfrm>
          <a:prstGeom prst="roundRect">
            <a:avLst>
              <a:gd name="adj" fmla="val 6512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document becomes AI knowledge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120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93522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6479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6479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review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2990088"/>
            <a:ext cx="310896" cy="3108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4904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120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935224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6227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46227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gate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2990088"/>
            <a:ext cx="310896" cy="31089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4652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1203A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935224"/>
            <a:ext cx="420624" cy="4206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5975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Auto-indexed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715975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split · embed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4" y="2990088"/>
            <a:ext cx="310896" cy="31089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14400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1203A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2935224"/>
            <a:ext cx="420624" cy="42062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85723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cite it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985723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quotable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1051560" y="36758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or edit it — and it disappears from every answer instantly.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777240" y="4206240"/>
            <a:ext cx="3392424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1051560" y="4480560"/>
            <a:ext cx="640080" cy="64008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617720"/>
            <a:ext cx="365760" cy="36576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051560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monitor</a:t>
            </a:r>
            <a:endParaRPr lang="en-US" sz="1600" dirty="0"/>
          </a:p>
        </p:txBody>
      </p:sp>
      <p:sp>
        <p:nvSpPr>
          <p:cNvPr id="31" name="Text 21"/>
          <p:cNvSpPr/>
          <p:nvPr/>
        </p:nvSpPr>
        <p:spPr>
          <a:xfrm>
            <a:off x="1051560" y="55595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usage per person; revoke or reinstate access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4370832" y="4206240"/>
            <a:ext cx="3392424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4645152" y="4480560"/>
            <a:ext cx="640080" cy="64008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2312" y="4617720"/>
            <a:ext cx="365760" cy="36576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4645152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analytics</a:t>
            </a:r>
            <a:endParaRPr lang="en-US" sz="1600" dirty="0"/>
          </a:p>
        </p:txBody>
      </p:sp>
      <p:sp>
        <p:nvSpPr>
          <p:cNvPr id="36" name="Text 25"/>
          <p:cNvSpPr/>
          <p:nvPr/>
        </p:nvSpPr>
        <p:spPr>
          <a:xfrm>
            <a:off x="4645152" y="55595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across every department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7964424" y="4206240"/>
            <a:ext cx="3392424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8238744" y="4480560"/>
            <a:ext cx="640080" cy="64008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5904" y="4617720"/>
            <a:ext cx="365760" cy="36576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238744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health</a:t>
            </a:r>
            <a:endParaRPr lang="en-US" sz="1600" dirty="0"/>
          </a:p>
        </p:txBody>
      </p:sp>
      <p:sp>
        <p:nvSpPr>
          <p:cNvPr id="41" name="Text 29"/>
          <p:cNvSpPr/>
          <p:nvPr/>
        </p:nvSpPr>
        <p:spPr>
          <a:xfrm>
            <a:off x="8238744" y="55595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storage · AI status at a glance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693469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69346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INTEGRITY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 exam integrity, in the browser.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tests run fullscreen and server-authoritative — the client is never trusted.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" y="2788920"/>
            <a:ext cx="777240" cy="77724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953512"/>
            <a:ext cx="448056" cy="4480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Fullscreen enforced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057400" y="318211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fullscreen or switching tabs is detected and recorded as a warning.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08776" y="246888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01384" y="2788920"/>
            <a:ext cx="777240" cy="77724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953512"/>
            <a:ext cx="448056" cy="4480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88936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Auto-disqualify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488936" y="318211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proctoring violations end the attempt automatically.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77240" y="425196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69848" y="4572000"/>
            <a:ext cx="777240" cy="77724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736592"/>
            <a:ext cx="448056" cy="4480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4526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timer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2057400" y="496519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countdown starts on launch; an attempt can't be restarted for extra time.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08776" y="425196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01384" y="4572000"/>
            <a:ext cx="777240" cy="77724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736592"/>
            <a:ext cx="448056" cy="4480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88936" y="4526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Server-authoritative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7488936" y="496519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never reach the browser; grading happens on the server, instantly.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2187245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218724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HONESTLY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messaging — built to run anywhere.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the faculty they share a class with chat live — with an honest path to scale.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3392424" cy="3474720"/>
          </a:xfrm>
          <a:prstGeom prst="roundRect">
            <a:avLst>
              <a:gd name="adj" fmla="val 3774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788920"/>
            <a:ext cx="914400" cy="914400"/>
          </a:xfrm>
          <a:prstGeom prst="ellipse">
            <a:avLst/>
          </a:prstGeom>
          <a:solidFill>
            <a:srgbClr val="0E2A2E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3017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38862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1:1 chat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4434840"/>
            <a:ext cx="2752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to people who share a section — presence, typing &amp; last-seen indicators.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70832" y="2468880"/>
            <a:ext cx="3392424" cy="3474720"/>
          </a:xfrm>
          <a:prstGeom prst="roundRect">
            <a:avLst>
              <a:gd name="adj" fmla="val 3774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05272" y="2788920"/>
            <a:ext cx="914400" cy="914400"/>
          </a:xfrm>
          <a:prstGeom prst="ellipse">
            <a:avLst/>
          </a:prstGeom>
          <a:solidFill>
            <a:srgbClr val="0E2A2E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30175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38862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by design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90872" y="4434840"/>
            <a:ext cx="2752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to the database first, then broadcast; polling fallback means nothing is ever lost.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964424" y="2468880"/>
            <a:ext cx="3392424" cy="3474720"/>
          </a:xfrm>
          <a:prstGeom prst="roundRect">
            <a:avLst>
              <a:gd name="adj" fmla="val 3774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98864" y="2788920"/>
            <a:ext cx="914400" cy="914400"/>
          </a:xfrm>
          <a:prstGeom prst="ellipse">
            <a:avLst/>
          </a:prstGeom>
          <a:solidFill>
            <a:srgbClr val="0E2A2E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4" y="30175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8744" y="38862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path to scale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284464" y="4434840"/>
            <a:ext cx="2752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on a hosted broadcaster today; self-host Laravel Reverb on a VPS — same client, swap the broadcaster.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31520" y="6144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B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constraint and the upgrade path is a maturity signal — judges reward honesty over hand-waving.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95958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495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Lean. Production-ready.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48840"/>
            <a:ext cx="512064" cy="512064"/>
          </a:xfrm>
          <a:prstGeom prst="ellipse">
            <a:avLst/>
          </a:prstGeom>
          <a:solidFill>
            <a:srgbClr val="0E2A2E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2585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7568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 </a:t>
            </a:r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· Inertia.js · Tailwind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44144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role-differentiated UI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2990088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05840" y="3172968"/>
            <a:ext cx="512064" cy="512064"/>
          </a:xfrm>
          <a:prstGeom prst="ellipse">
            <a:avLst/>
          </a:prstGeom>
          <a:solidFill>
            <a:srgbClr val="0E2A2E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2826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09981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 </a:t>
            </a:r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11 (PHP)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91640" y="346557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REST APIs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77240" y="4014216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05840" y="4197096"/>
            <a:ext cx="512064" cy="512064"/>
          </a:xfrm>
          <a:prstGeom prst="ellipse">
            <a:avLst/>
          </a:prstGeom>
          <a:solidFill>
            <a:srgbClr val="0E2A2E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30682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12394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Vector Search   </a:t>
            </a:r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91640" y="448970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AND embeddings — native cosine, no vector DB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77240" y="5038344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5840" y="5221224"/>
            <a:ext cx="512064" cy="512064"/>
          </a:xfrm>
          <a:prstGeom prst="ellipse">
            <a:avLst/>
          </a:prstGeom>
          <a:solidFill>
            <a:srgbClr val="0E2A2E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33095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514807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  </a:t>
            </a:r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(default)  /  OpenAI (drop-in key)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691640" y="551383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providers behind one interface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732520" y="1965960"/>
            <a:ext cx="2697480" cy="4032504"/>
          </a:xfrm>
          <a:prstGeom prst="roundRect">
            <a:avLst>
              <a:gd name="adj" fmla="val 4746"/>
            </a:avLst>
          </a:prstGeom>
          <a:solidFill>
            <a:srgbClr val="0E2A2E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233172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6112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runs natively in MySQL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8961120" y="39319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search engine to deploy, run, or pay for.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915400" y="50749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decision that keeps the whole platform lean enough for one person to ship.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LOCK-IN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Swap the brain, keep the platform.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logic lives behind one interface — demo today, production tomorrow.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5029200" cy="3200400"/>
          </a:xfrm>
          <a:prstGeom prst="roundRect">
            <a:avLst>
              <a:gd name="adj" fmla="val 4000"/>
            </a:avLst>
          </a:prstGeom>
          <a:solidFill>
            <a:srgbClr val="0E2A2E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97480" y="2651760"/>
            <a:ext cx="1188720" cy="1188720"/>
          </a:xfrm>
          <a:prstGeom prst="ellipse">
            <a:avLst/>
          </a:prstGeom>
          <a:solidFill>
            <a:srgbClr val="11203A"/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528" y="303580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PROVIDER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" y="4389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needs NO API key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8646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chat + quiz generation, zero cost to demo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82512" y="2331720"/>
            <a:ext cx="5029200" cy="3200400"/>
          </a:xfrm>
          <a:prstGeom prst="roundRect">
            <a:avLst>
              <a:gd name="adj" fmla="val 4000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302752" y="2651760"/>
            <a:ext cx="1188720" cy="1188720"/>
          </a:xfrm>
          <a:prstGeom prst="ellipse">
            <a:avLst/>
          </a:prstGeom>
          <a:solidFill>
            <a:srgbClr val="0E2A2E"/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03580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82512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PROVIDER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656832" y="4389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key for production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656832" y="48646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contract — Gemini or local LLMs slot in next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2377440" y="5806440"/>
            <a:ext cx="7434072" cy="640080"/>
          </a:xfrm>
          <a:prstGeom prst="roundRect">
            <a:avLst>
              <a:gd name="adj" fmla="val 20000"/>
            </a:avLst>
          </a:prstGeom>
          <a:solidFill>
            <a:srgbClr val="0E2A2E"/>
          </a:solidFill>
          <a:ln/>
        </p:spPr>
      </p:sp>
      <p:sp>
        <p:nvSpPr>
          <p:cNvPr id="19" name="Text 15"/>
          <p:cNvSpPr/>
          <p:nvPr/>
        </p:nvSpPr>
        <p:spPr>
          <a:xfrm>
            <a:off x="2377440" y="5806440"/>
            <a:ext cx="7434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AI dependencies:  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product demos with no keys, no setup.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2384755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23847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CHATGPT?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reasons nobody else has.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60520" y="2011680"/>
            <a:ext cx="3611880" cy="640080"/>
          </a:xfrm>
          <a:prstGeom prst="roundRect">
            <a:avLst>
              <a:gd name="adj" fmla="val 14286"/>
            </a:avLst>
          </a:prstGeom>
          <a:solidFill>
            <a:srgbClr val="EAEEF2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60520" y="20116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ChatGPT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09560" y="2011680"/>
            <a:ext cx="3502152" cy="640080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09560" y="2011680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UniGPT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answers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160520" y="278892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308152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46320" y="278892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internet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909560" y="2788920"/>
            <a:ext cx="350215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08152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13648" y="278892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approved documents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77240" y="3840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4160520" y="384048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413308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38404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7909560" y="3840480"/>
            <a:ext cx="350215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41330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13648" y="38404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· page · confidence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892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4160520" y="489204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518464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46320" y="48920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7909560" y="4892040"/>
            <a:ext cx="350215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5184648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613648" y="48920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— you see only what you may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73152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a chatbot. That's institutional infrastructure.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693469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69346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mature, demonstrable MVP.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D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60120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· Faculty · Admin — one login, tailored per role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11296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02736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D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40+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694176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permissions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9896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guarded, every action audited, roles can expire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6792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428232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workflows wired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· quiz · proctor · grade · report — end to 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79408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70848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D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9162288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dependencies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08008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vector DB, no LLM SDK — runs in-house, demos with no keys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144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slideware concept — a working platform you can demo on any laptop, with no setup.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FEASIBILITY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a concept. Already built.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3392424" cy="3749040"/>
          </a:xfrm>
          <a:prstGeom prst="roundRect">
            <a:avLst>
              <a:gd name="adj" fmla="val 3774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0" y="2468880"/>
            <a:ext cx="914400" cy="914400"/>
          </a:xfrm>
          <a:prstGeom prst="ellipse">
            <a:avLst/>
          </a:prstGeom>
          <a:solidFill>
            <a:srgbClr val="0E2A2E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697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2044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005840" y="434340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already built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484632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AI · approvals · proctored quizzes · messaging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0832" y="2148840"/>
            <a:ext cx="3392424" cy="3749040"/>
          </a:xfrm>
          <a:prstGeom prst="roundRect">
            <a:avLst>
              <a:gd name="adj" fmla="val 3774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05272" y="2468880"/>
            <a:ext cx="914400" cy="914400"/>
          </a:xfrm>
          <a:prstGeom prst="ellipse">
            <a:avLst/>
          </a:prstGeom>
          <a:solidFill>
            <a:srgbClr val="0E2A2E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6974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62272" y="352044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1000s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4599432" y="434340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45152" y="484632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faculty, departments &amp; documents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964424" y="2148840"/>
            <a:ext cx="3392424" cy="3749040"/>
          </a:xfrm>
          <a:prstGeom prst="roundRect">
            <a:avLst>
              <a:gd name="adj" fmla="val 3774"/>
            </a:avLst>
          </a:prstGeom>
          <a:solidFill>
            <a:srgbClr val="11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98864" y="2468880"/>
            <a:ext cx="914400" cy="914400"/>
          </a:xfrm>
          <a:prstGeom prst="ellipse">
            <a:avLst/>
          </a:prstGeom>
          <a:solidFill>
            <a:srgbClr val="0E2A2E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4" y="26974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55864" y="352044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Equity</a:t>
            </a:r>
            <a:endParaRPr lang="en-US" sz="3800" dirty="0"/>
          </a:p>
        </p:txBody>
      </p:sp>
      <p:sp>
        <p:nvSpPr>
          <p:cNvPr id="21" name="Text 16"/>
          <p:cNvSpPr/>
          <p:nvPr/>
        </p:nvSpPr>
        <p:spPr>
          <a:xfrm>
            <a:off x="8193024" y="434340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than one campus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238744" y="484632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instant for every student, any university size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31520" y="6144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Bangladesh, universities struggle with exactly this fragmentation — UniGPT raises both quality and equity of education.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890979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8909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VISION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it goes next.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194560" y="3429000"/>
            <a:ext cx="7498080" cy="0"/>
          </a:xfrm>
          <a:prstGeom prst="line">
            <a:avLst/>
          </a:prstGeom>
          <a:noFill/>
          <a:ln w="25400">
            <a:solidFill>
              <a:srgbClr val="0D9488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3200400"/>
            <a:ext cx="457200" cy="457200"/>
          </a:xfrm>
          <a:prstGeom prst="ellipse">
            <a:avLst/>
          </a:prstGeom>
          <a:solidFill>
            <a:srgbClr val="0D9488"/>
          </a:solidFill>
          <a:ln w="38100">
            <a:solidFill>
              <a:srgbClr val="F7F9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794760"/>
            <a:ext cx="339242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4069080"/>
            <a:ext cx="685800" cy="68580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4215384"/>
            <a:ext cx="393192" cy="393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892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51560" y="532180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portals, dual-mode AI, proctored quizzes — working today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15584" y="3200400"/>
            <a:ext cx="457200" cy="457200"/>
          </a:xfrm>
          <a:prstGeom prst="ellipse">
            <a:avLst/>
          </a:prstGeom>
          <a:solidFill>
            <a:srgbClr val="0D9488"/>
          </a:solidFill>
          <a:ln w="38100">
            <a:solidFill>
              <a:srgbClr val="F7F9F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98264" y="3794760"/>
            <a:ext cx="339242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72584" y="4069080"/>
            <a:ext cx="685800" cy="68580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4215384"/>
            <a:ext cx="393192" cy="3931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95544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672584" y="4892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&amp; insight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672584" y="532180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Telegram delivery · predictive analytics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436608" y="3200400"/>
            <a:ext cx="457200" cy="457200"/>
          </a:xfrm>
          <a:prstGeom prst="ellipse">
            <a:avLst/>
          </a:prstGeom>
          <a:solidFill>
            <a:srgbClr val="0D9488"/>
          </a:solidFill>
          <a:ln w="38100">
            <a:solidFill>
              <a:srgbClr val="F7F9F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19288" y="3794760"/>
            <a:ext cx="339242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93608" y="4069080"/>
            <a:ext cx="685800" cy="685800"/>
          </a:xfrm>
          <a:prstGeom prst="ellipse">
            <a:avLst/>
          </a:prstGeom>
          <a:solidFill>
            <a:srgbClr val="F7F9F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4215384"/>
            <a:ext cx="393192" cy="39319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16568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293608" y="4892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ecosystem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293608" y="532180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· digital library · multi-institution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731520" y="6199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vision: universities as AI-driven ecosystems — knowledge instant, friction gone, teachers back to teaching.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474720"/>
            <a:ext cx="5029200" cy="50292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4173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UniGPT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914400" y="3611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university's knowledge — instant, grounded, and provable.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  </a:t>
            </a:r>
            <a:pPr algn="ctr" indent="0" marL="0">
              <a:buNone/>
            </a:pPr>
            <a:r>
              <a:rPr lang="en-US" sz="1700" dirty="0">
                <a:solidFill>
                  <a:srgbClr val="CB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AI.   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answer, provable.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58978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Shariya</a:t>
            </a:r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Northern University Bangladesh   ·   shariya873@gmail.com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UniGPT — An AI Academic Copilot</dc:title>
  <dc:subject>PptxGenJS Presentation</dc:subject>
  <dc:creator>Mohammad Shariya</dc:creator>
  <cp:lastModifiedBy>Mohammad Shariya</cp:lastModifiedBy>
  <cp:revision>1</cp:revision>
  <dcterms:created xsi:type="dcterms:W3CDTF">2026-06-26T19:10:24Z</dcterms:created>
  <dcterms:modified xsi:type="dcterms:W3CDTF">2026-06-26T19:10:24Z</dcterms:modified>
</cp:coreProperties>
</file>